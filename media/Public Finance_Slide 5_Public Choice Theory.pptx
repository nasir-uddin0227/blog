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257" r:id="rId2"/>
    <p:sldId id="258" r:id="rId3"/>
    <p:sldId id="259" r:id="rId4"/>
    <p:sldId id="263" r:id="rId5"/>
    <p:sldId id="264" r:id="rId6"/>
    <p:sldId id="265" r:id="rId7"/>
    <p:sldId id="266" r:id="rId8"/>
    <p:sldId id="262" r:id="rId9"/>
    <p:sldId id="267" r:id="rId10"/>
    <p:sldId id="268" r:id="rId11"/>
    <p:sldId id="270" r:id="rId12"/>
    <p:sldId id="269" r:id="rId13"/>
    <p:sldId id="271" r:id="rId14"/>
    <p:sldId id="274" r:id="rId15"/>
    <p:sldId id="275" r:id="rId16"/>
    <p:sldId id="272" r:id="rId17"/>
    <p:sldId id="280" r:id="rId18"/>
    <p:sldId id="273" r:id="rId19"/>
    <p:sldId id="277" r:id="rId20"/>
    <p:sldId id="276" r:id="rId21"/>
    <p:sldId id="260" r:id="rId22"/>
    <p:sldId id="278" r:id="rId23"/>
    <p:sldId id="279" r:id="rId24"/>
    <p:sldId id="261"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86" autoAdjust="0"/>
    <p:restoredTop sz="94660"/>
  </p:normalViewPr>
  <p:slideViewPr>
    <p:cSldViewPr snapToGrid="0">
      <p:cViewPr varScale="1">
        <p:scale>
          <a:sx n="38" d="100"/>
          <a:sy n="38" d="100"/>
        </p:scale>
        <p:origin x="60" y="7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095027-3B7D-475C-87F7-CD177A2DEFB2}" type="datetimeFigureOut">
              <a:rPr lang="en-US" smtClean="0"/>
              <a:t>10/10/2026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B96E6E-3B85-468A-8CAC-EAAC6AF20944}" type="slidenum">
              <a:rPr lang="en-US" smtClean="0"/>
              <a:t>‹#›</a:t>
            </a:fld>
            <a:endParaRPr lang="en-US"/>
          </a:p>
        </p:txBody>
      </p:sp>
    </p:spTree>
    <p:extLst>
      <p:ext uri="{BB962C8B-B14F-4D97-AF65-F5344CB8AC3E}">
        <p14:creationId xmlns:p14="http://schemas.microsoft.com/office/powerpoint/2010/main" val="22315250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09CF7A8A-D4A1-935B-6481-6900C9D15E9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C165D9D5-EA48-47EA-A28A-081A483DF409}" type="slidenum">
              <a:rPr kumimoji="0" lang="it-IT"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ct val="0"/>
                </a:spcBef>
                <a:spcAft>
                  <a:spcPts val="0"/>
                </a:spcAft>
                <a:buClrTx/>
                <a:buSzTx/>
                <a:buFontTx/>
                <a:buNone/>
                <a:tabLst/>
                <a:defRPr/>
              </a:pPr>
              <a:t>1</a:t>
            </a:fld>
            <a:endParaRPr kumimoji="0" lang="it-IT"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6147" name="Rectangle 2">
            <a:extLst>
              <a:ext uri="{FF2B5EF4-FFF2-40B4-BE49-F238E27FC236}">
                <a16:creationId xmlns:a16="http://schemas.microsoft.com/office/drawing/2014/main" id="{8E42134B-2F14-A636-0AB9-3E61F0E5F857}"/>
              </a:ext>
            </a:extLst>
          </p:cNvPr>
          <p:cNvSpPr>
            <a:spLocks noGrp="1" noRot="1" noChangeAspect="1" noChangeArrowheads="1" noTextEdit="1"/>
          </p:cNvSpPr>
          <p:nvPr>
            <p:ph type="sldImg"/>
          </p:nvPr>
        </p:nvSpPr>
        <p:spPr>
          <a:xfrm>
            <a:off x="685800" y="1143000"/>
            <a:ext cx="5486400" cy="3086100"/>
          </a:xfrm>
          <a:ln/>
        </p:spPr>
      </p:sp>
      <p:sp>
        <p:nvSpPr>
          <p:cNvPr id="6148" name="Rectangle 3">
            <a:extLst>
              <a:ext uri="{FF2B5EF4-FFF2-40B4-BE49-F238E27FC236}">
                <a16:creationId xmlns:a16="http://schemas.microsoft.com/office/drawing/2014/main" id="{27B5D1CB-BBFC-0E37-24E4-E9FC55E2B2C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B96E6E-3B85-468A-8CAC-EAAC6AF20944}" type="slidenum">
              <a:rPr lang="en-US" smtClean="0"/>
              <a:t>15</a:t>
            </a:fld>
            <a:endParaRPr lang="en-US"/>
          </a:p>
        </p:txBody>
      </p:sp>
    </p:spTree>
    <p:extLst>
      <p:ext uri="{BB962C8B-B14F-4D97-AF65-F5344CB8AC3E}">
        <p14:creationId xmlns:p14="http://schemas.microsoft.com/office/powerpoint/2010/main" val="19907004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EC8BF-12A6-9E38-11A8-31914587F92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A3D27FA-7434-D9C2-64A1-D2F5CE26D6D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FE01E5A-DC12-B7E3-7FF3-E028BAB7B6A7}"/>
              </a:ext>
            </a:extLst>
          </p:cNvPr>
          <p:cNvSpPr>
            <a:spLocks noGrp="1"/>
          </p:cNvSpPr>
          <p:nvPr>
            <p:ph type="dt" sz="half" idx="10"/>
          </p:nvPr>
        </p:nvSpPr>
        <p:spPr/>
        <p:txBody>
          <a:bodyPr/>
          <a:lstStyle/>
          <a:p>
            <a:fld id="{7B9863D8-57C3-43F6-A3C2-D09DFF24CC1E}" type="datetimeFigureOut">
              <a:rPr lang="en-US" smtClean="0"/>
              <a:t>10/10/2026</a:t>
            </a:fld>
            <a:endParaRPr lang="en-US"/>
          </a:p>
        </p:txBody>
      </p:sp>
      <p:sp>
        <p:nvSpPr>
          <p:cNvPr id="5" name="Footer Placeholder 4">
            <a:extLst>
              <a:ext uri="{FF2B5EF4-FFF2-40B4-BE49-F238E27FC236}">
                <a16:creationId xmlns:a16="http://schemas.microsoft.com/office/drawing/2014/main" id="{C6DDB5A5-0710-A4A7-D663-DCE998374F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7CB2CB-29BC-66C9-E532-A20AB65F85C4}"/>
              </a:ext>
            </a:extLst>
          </p:cNvPr>
          <p:cNvSpPr>
            <a:spLocks noGrp="1"/>
          </p:cNvSpPr>
          <p:nvPr>
            <p:ph type="sldNum" sz="quarter" idx="12"/>
          </p:nvPr>
        </p:nvSpPr>
        <p:spPr/>
        <p:txBody>
          <a:bodyPr/>
          <a:lstStyle/>
          <a:p>
            <a:fld id="{A2729D1F-4A23-4BAD-A939-5E1986995831}" type="slidenum">
              <a:rPr lang="en-US" smtClean="0"/>
              <a:t>‹#›</a:t>
            </a:fld>
            <a:endParaRPr lang="en-US"/>
          </a:p>
        </p:txBody>
      </p:sp>
    </p:spTree>
    <p:extLst>
      <p:ext uri="{BB962C8B-B14F-4D97-AF65-F5344CB8AC3E}">
        <p14:creationId xmlns:p14="http://schemas.microsoft.com/office/powerpoint/2010/main" val="30185314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8D015-1CF0-737F-7036-A63048CB017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66646F8-81F9-F52A-EF4E-E80B5982637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0AA1D3-81BE-8579-2F79-79029EFC8FAB}"/>
              </a:ext>
            </a:extLst>
          </p:cNvPr>
          <p:cNvSpPr>
            <a:spLocks noGrp="1"/>
          </p:cNvSpPr>
          <p:nvPr>
            <p:ph type="dt" sz="half" idx="10"/>
          </p:nvPr>
        </p:nvSpPr>
        <p:spPr/>
        <p:txBody>
          <a:bodyPr/>
          <a:lstStyle/>
          <a:p>
            <a:fld id="{7B9863D8-57C3-43F6-A3C2-D09DFF24CC1E}" type="datetimeFigureOut">
              <a:rPr lang="en-US" smtClean="0"/>
              <a:t>10/10/2026</a:t>
            </a:fld>
            <a:endParaRPr lang="en-US"/>
          </a:p>
        </p:txBody>
      </p:sp>
      <p:sp>
        <p:nvSpPr>
          <p:cNvPr id="5" name="Footer Placeholder 4">
            <a:extLst>
              <a:ext uri="{FF2B5EF4-FFF2-40B4-BE49-F238E27FC236}">
                <a16:creationId xmlns:a16="http://schemas.microsoft.com/office/drawing/2014/main" id="{8D4F28F2-8908-DA2E-9643-17BDD6BB68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D00206-25D9-FEBD-612D-D9D251661998}"/>
              </a:ext>
            </a:extLst>
          </p:cNvPr>
          <p:cNvSpPr>
            <a:spLocks noGrp="1"/>
          </p:cNvSpPr>
          <p:nvPr>
            <p:ph type="sldNum" sz="quarter" idx="12"/>
          </p:nvPr>
        </p:nvSpPr>
        <p:spPr/>
        <p:txBody>
          <a:bodyPr/>
          <a:lstStyle/>
          <a:p>
            <a:fld id="{A2729D1F-4A23-4BAD-A939-5E1986995831}" type="slidenum">
              <a:rPr lang="en-US" smtClean="0"/>
              <a:t>‹#›</a:t>
            </a:fld>
            <a:endParaRPr lang="en-US"/>
          </a:p>
        </p:txBody>
      </p:sp>
    </p:spTree>
    <p:extLst>
      <p:ext uri="{BB962C8B-B14F-4D97-AF65-F5344CB8AC3E}">
        <p14:creationId xmlns:p14="http://schemas.microsoft.com/office/powerpoint/2010/main" val="35415277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D7351-2233-B888-6FC8-2652A61B934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998401D-A564-F80A-64B8-B078B3221A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1C8C7F2-7BBE-2E5D-6500-738488B9AF10}"/>
              </a:ext>
            </a:extLst>
          </p:cNvPr>
          <p:cNvSpPr>
            <a:spLocks noGrp="1"/>
          </p:cNvSpPr>
          <p:nvPr>
            <p:ph type="dt" sz="half" idx="10"/>
          </p:nvPr>
        </p:nvSpPr>
        <p:spPr/>
        <p:txBody>
          <a:bodyPr/>
          <a:lstStyle/>
          <a:p>
            <a:fld id="{7B9863D8-57C3-43F6-A3C2-D09DFF24CC1E}" type="datetimeFigureOut">
              <a:rPr lang="en-US" smtClean="0"/>
              <a:t>10/10/2026</a:t>
            </a:fld>
            <a:endParaRPr lang="en-US"/>
          </a:p>
        </p:txBody>
      </p:sp>
      <p:sp>
        <p:nvSpPr>
          <p:cNvPr id="5" name="Footer Placeholder 4">
            <a:extLst>
              <a:ext uri="{FF2B5EF4-FFF2-40B4-BE49-F238E27FC236}">
                <a16:creationId xmlns:a16="http://schemas.microsoft.com/office/drawing/2014/main" id="{765FF86E-1759-0E45-FAF6-CEF6F23136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35D317-45C2-67A8-56FB-3E2AF87911E1}"/>
              </a:ext>
            </a:extLst>
          </p:cNvPr>
          <p:cNvSpPr>
            <a:spLocks noGrp="1"/>
          </p:cNvSpPr>
          <p:nvPr>
            <p:ph type="sldNum" sz="quarter" idx="12"/>
          </p:nvPr>
        </p:nvSpPr>
        <p:spPr/>
        <p:txBody>
          <a:bodyPr/>
          <a:lstStyle/>
          <a:p>
            <a:fld id="{A2729D1F-4A23-4BAD-A939-5E1986995831}" type="slidenum">
              <a:rPr lang="en-US" smtClean="0"/>
              <a:t>‹#›</a:t>
            </a:fld>
            <a:endParaRPr lang="en-US"/>
          </a:p>
        </p:txBody>
      </p:sp>
    </p:spTree>
    <p:extLst>
      <p:ext uri="{BB962C8B-B14F-4D97-AF65-F5344CB8AC3E}">
        <p14:creationId xmlns:p14="http://schemas.microsoft.com/office/powerpoint/2010/main" val="4241035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8D455-85A6-3A94-4435-A15CD8A217F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FD67B5-EA8E-ED01-BAE0-2B1DA59301B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86B67AE-04B3-0AE0-B5C1-8FBDC49CFCA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8C3730C-381C-9C7B-72E2-B3F032E1A104}"/>
              </a:ext>
            </a:extLst>
          </p:cNvPr>
          <p:cNvSpPr>
            <a:spLocks noGrp="1"/>
          </p:cNvSpPr>
          <p:nvPr>
            <p:ph type="dt" sz="half" idx="10"/>
          </p:nvPr>
        </p:nvSpPr>
        <p:spPr/>
        <p:txBody>
          <a:bodyPr/>
          <a:lstStyle/>
          <a:p>
            <a:fld id="{7B9863D8-57C3-43F6-A3C2-D09DFF24CC1E}" type="datetimeFigureOut">
              <a:rPr lang="en-US" smtClean="0"/>
              <a:t>10/10/2026</a:t>
            </a:fld>
            <a:endParaRPr lang="en-US"/>
          </a:p>
        </p:txBody>
      </p:sp>
      <p:sp>
        <p:nvSpPr>
          <p:cNvPr id="6" name="Footer Placeholder 5">
            <a:extLst>
              <a:ext uri="{FF2B5EF4-FFF2-40B4-BE49-F238E27FC236}">
                <a16:creationId xmlns:a16="http://schemas.microsoft.com/office/drawing/2014/main" id="{39FB6B0D-550A-471C-AF39-3FC919A662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BF4DE25-9F04-9A92-D91B-E7FB3523932C}"/>
              </a:ext>
            </a:extLst>
          </p:cNvPr>
          <p:cNvSpPr>
            <a:spLocks noGrp="1"/>
          </p:cNvSpPr>
          <p:nvPr>
            <p:ph type="sldNum" sz="quarter" idx="12"/>
          </p:nvPr>
        </p:nvSpPr>
        <p:spPr/>
        <p:txBody>
          <a:bodyPr/>
          <a:lstStyle/>
          <a:p>
            <a:fld id="{A2729D1F-4A23-4BAD-A939-5E1986995831}" type="slidenum">
              <a:rPr lang="en-US" smtClean="0"/>
              <a:t>‹#›</a:t>
            </a:fld>
            <a:endParaRPr lang="en-US"/>
          </a:p>
        </p:txBody>
      </p:sp>
    </p:spTree>
    <p:extLst>
      <p:ext uri="{BB962C8B-B14F-4D97-AF65-F5344CB8AC3E}">
        <p14:creationId xmlns:p14="http://schemas.microsoft.com/office/powerpoint/2010/main" val="11860530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CD3FD-2B15-FB25-C988-DBFE4858F02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468EB91-4522-B974-DBE8-7CE5F42AB4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9F5759E-30DD-2CF0-EFF6-EE1890FC3AE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982DACC-3996-904E-DDC4-92A22BBA85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FB4E992-0CC3-820E-001F-745ADC78341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FD45303-53B9-E259-9770-5728DBBA54BB}"/>
              </a:ext>
            </a:extLst>
          </p:cNvPr>
          <p:cNvSpPr>
            <a:spLocks noGrp="1"/>
          </p:cNvSpPr>
          <p:nvPr>
            <p:ph type="dt" sz="half" idx="10"/>
          </p:nvPr>
        </p:nvSpPr>
        <p:spPr/>
        <p:txBody>
          <a:bodyPr/>
          <a:lstStyle/>
          <a:p>
            <a:fld id="{7B9863D8-57C3-43F6-A3C2-D09DFF24CC1E}" type="datetimeFigureOut">
              <a:rPr lang="en-US" smtClean="0"/>
              <a:t>10/10/2026</a:t>
            </a:fld>
            <a:endParaRPr lang="en-US"/>
          </a:p>
        </p:txBody>
      </p:sp>
      <p:sp>
        <p:nvSpPr>
          <p:cNvPr id="8" name="Footer Placeholder 7">
            <a:extLst>
              <a:ext uri="{FF2B5EF4-FFF2-40B4-BE49-F238E27FC236}">
                <a16:creationId xmlns:a16="http://schemas.microsoft.com/office/drawing/2014/main" id="{1AD69770-C484-5AAF-E27D-CEB1F2B4620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B89D5C-41DF-0351-D8F4-8DE84AB48F2B}"/>
              </a:ext>
            </a:extLst>
          </p:cNvPr>
          <p:cNvSpPr>
            <a:spLocks noGrp="1"/>
          </p:cNvSpPr>
          <p:nvPr>
            <p:ph type="sldNum" sz="quarter" idx="12"/>
          </p:nvPr>
        </p:nvSpPr>
        <p:spPr/>
        <p:txBody>
          <a:bodyPr/>
          <a:lstStyle/>
          <a:p>
            <a:fld id="{A2729D1F-4A23-4BAD-A939-5E1986995831}" type="slidenum">
              <a:rPr lang="en-US" smtClean="0"/>
              <a:t>‹#›</a:t>
            </a:fld>
            <a:endParaRPr lang="en-US"/>
          </a:p>
        </p:txBody>
      </p:sp>
    </p:spTree>
    <p:extLst>
      <p:ext uri="{BB962C8B-B14F-4D97-AF65-F5344CB8AC3E}">
        <p14:creationId xmlns:p14="http://schemas.microsoft.com/office/powerpoint/2010/main" val="14676187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443FF-F9B7-E7CC-EBB5-C8516B957D6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0254D7-7227-5DC3-CB26-8D37AC4D19DB}"/>
              </a:ext>
            </a:extLst>
          </p:cNvPr>
          <p:cNvSpPr>
            <a:spLocks noGrp="1"/>
          </p:cNvSpPr>
          <p:nvPr>
            <p:ph type="dt" sz="half" idx="10"/>
          </p:nvPr>
        </p:nvSpPr>
        <p:spPr/>
        <p:txBody>
          <a:bodyPr/>
          <a:lstStyle/>
          <a:p>
            <a:fld id="{7B9863D8-57C3-43F6-A3C2-D09DFF24CC1E}" type="datetimeFigureOut">
              <a:rPr lang="en-US" smtClean="0"/>
              <a:t>10/10/2026</a:t>
            </a:fld>
            <a:endParaRPr lang="en-US"/>
          </a:p>
        </p:txBody>
      </p:sp>
      <p:sp>
        <p:nvSpPr>
          <p:cNvPr id="4" name="Footer Placeholder 3">
            <a:extLst>
              <a:ext uri="{FF2B5EF4-FFF2-40B4-BE49-F238E27FC236}">
                <a16:creationId xmlns:a16="http://schemas.microsoft.com/office/drawing/2014/main" id="{7AFA3493-CB1F-835C-2C98-2A599E908E5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7B0D3ED-E240-66C3-13CB-1FED58FA72BF}"/>
              </a:ext>
            </a:extLst>
          </p:cNvPr>
          <p:cNvSpPr>
            <a:spLocks noGrp="1"/>
          </p:cNvSpPr>
          <p:nvPr>
            <p:ph type="sldNum" sz="quarter" idx="12"/>
          </p:nvPr>
        </p:nvSpPr>
        <p:spPr/>
        <p:txBody>
          <a:bodyPr/>
          <a:lstStyle/>
          <a:p>
            <a:fld id="{A2729D1F-4A23-4BAD-A939-5E1986995831}" type="slidenum">
              <a:rPr lang="en-US" smtClean="0"/>
              <a:t>‹#›</a:t>
            </a:fld>
            <a:endParaRPr lang="en-US"/>
          </a:p>
        </p:txBody>
      </p:sp>
    </p:spTree>
    <p:extLst>
      <p:ext uri="{BB962C8B-B14F-4D97-AF65-F5344CB8AC3E}">
        <p14:creationId xmlns:p14="http://schemas.microsoft.com/office/powerpoint/2010/main" val="16025981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9A0863-9EAB-2245-8DC1-29BBA7AA484D}"/>
              </a:ext>
            </a:extLst>
          </p:cNvPr>
          <p:cNvSpPr>
            <a:spLocks noGrp="1"/>
          </p:cNvSpPr>
          <p:nvPr>
            <p:ph type="dt" sz="half" idx="10"/>
          </p:nvPr>
        </p:nvSpPr>
        <p:spPr/>
        <p:txBody>
          <a:bodyPr/>
          <a:lstStyle/>
          <a:p>
            <a:fld id="{7B9863D8-57C3-43F6-A3C2-D09DFF24CC1E}" type="datetimeFigureOut">
              <a:rPr lang="en-US" smtClean="0"/>
              <a:t>10/10/2026</a:t>
            </a:fld>
            <a:endParaRPr lang="en-US"/>
          </a:p>
        </p:txBody>
      </p:sp>
      <p:sp>
        <p:nvSpPr>
          <p:cNvPr id="3" name="Footer Placeholder 2">
            <a:extLst>
              <a:ext uri="{FF2B5EF4-FFF2-40B4-BE49-F238E27FC236}">
                <a16:creationId xmlns:a16="http://schemas.microsoft.com/office/drawing/2014/main" id="{F7F36E62-4549-5723-C001-9CCAD6A5079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C240039-BAE2-090D-2796-475941940EB2}"/>
              </a:ext>
            </a:extLst>
          </p:cNvPr>
          <p:cNvSpPr>
            <a:spLocks noGrp="1"/>
          </p:cNvSpPr>
          <p:nvPr>
            <p:ph type="sldNum" sz="quarter" idx="12"/>
          </p:nvPr>
        </p:nvSpPr>
        <p:spPr/>
        <p:txBody>
          <a:bodyPr/>
          <a:lstStyle/>
          <a:p>
            <a:fld id="{A2729D1F-4A23-4BAD-A939-5E1986995831}" type="slidenum">
              <a:rPr lang="en-US" smtClean="0"/>
              <a:t>‹#›</a:t>
            </a:fld>
            <a:endParaRPr lang="en-US"/>
          </a:p>
        </p:txBody>
      </p:sp>
    </p:spTree>
    <p:extLst>
      <p:ext uri="{BB962C8B-B14F-4D97-AF65-F5344CB8AC3E}">
        <p14:creationId xmlns:p14="http://schemas.microsoft.com/office/powerpoint/2010/main" val="40826848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CE7D7-2B31-FD96-74E1-3E38EED436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40536E1-3AFB-FCB7-3759-3A617919910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083BE89-C74E-C44E-4937-ACC21F79A4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490595F-17F4-49B3-1522-A85754166D2F}"/>
              </a:ext>
            </a:extLst>
          </p:cNvPr>
          <p:cNvSpPr>
            <a:spLocks noGrp="1"/>
          </p:cNvSpPr>
          <p:nvPr>
            <p:ph type="dt" sz="half" idx="10"/>
          </p:nvPr>
        </p:nvSpPr>
        <p:spPr/>
        <p:txBody>
          <a:bodyPr/>
          <a:lstStyle/>
          <a:p>
            <a:fld id="{7B9863D8-57C3-43F6-A3C2-D09DFF24CC1E}" type="datetimeFigureOut">
              <a:rPr lang="en-US" smtClean="0"/>
              <a:t>10/10/2026</a:t>
            </a:fld>
            <a:endParaRPr lang="en-US"/>
          </a:p>
        </p:txBody>
      </p:sp>
      <p:sp>
        <p:nvSpPr>
          <p:cNvPr id="6" name="Footer Placeholder 5">
            <a:extLst>
              <a:ext uri="{FF2B5EF4-FFF2-40B4-BE49-F238E27FC236}">
                <a16:creationId xmlns:a16="http://schemas.microsoft.com/office/drawing/2014/main" id="{004BDF94-8DDC-EC0E-8CC7-87D57FB80E5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CD6C1DA-A0B5-16DF-A94E-8E74B6429FCC}"/>
              </a:ext>
            </a:extLst>
          </p:cNvPr>
          <p:cNvSpPr>
            <a:spLocks noGrp="1"/>
          </p:cNvSpPr>
          <p:nvPr>
            <p:ph type="sldNum" sz="quarter" idx="12"/>
          </p:nvPr>
        </p:nvSpPr>
        <p:spPr/>
        <p:txBody>
          <a:bodyPr/>
          <a:lstStyle/>
          <a:p>
            <a:fld id="{A2729D1F-4A23-4BAD-A939-5E1986995831}" type="slidenum">
              <a:rPr lang="en-US" smtClean="0"/>
              <a:t>‹#›</a:t>
            </a:fld>
            <a:endParaRPr lang="en-US"/>
          </a:p>
        </p:txBody>
      </p:sp>
    </p:spTree>
    <p:extLst>
      <p:ext uri="{BB962C8B-B14F-4D97-AF65-F5344CB8AC3E}">
        <p14:creationId xmlns:p14="http://schemas.microsoft.com/office/powerpoint/2010/main" val="10344644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4BF66-9BAA-5DE6-119A-189ACE16F1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3543374-8BBE-C9A4-B431-1C929C5A7BD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6964CF4-E2FF-1B53-C45C-8109C3D94C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749022-AE1A-B287-3ABB-7424F3B5468B}"/>
              </a:ext>
            </a:extLst>
          </p:cNvPr>
          <p:cNvSpPr>
            <a:spLocks noGrp="1"/>
          </p:cNvSpPr>
          <p:nvPr>
            <p:ph type="dt" sz="half" idx="10"/>
          </p:nvPr>
        </p:nvSpPr>
        <p:spPr/>
        <p:txBody>
          <a:bodyPr/>
          <a:lstStyle/>
          <a:p>
            <a:fld id="{7B9863D8-57C3-43F6-A3C2-D09DFF24CC1E}" type="datetimeFigureOut">
              <a:rPr lang="en-US" smtClean="0"/>
              <a:t>10/10/2026</a:t>
            </a:fld>
            <a:endParaRPr lang="en-US"/>
          </a:p>
        </p:txBody>
      </p:sp>
      <p:sp>
        <p:nvSpPr>
          <p:cNvPr id="6" name="Footer Placeholder 5">
            <a:extLst>
              <a:ext uri="{FF2B5EF4-FFF2-40B4-BE49-F238E27FC236}">
                <a16:creationId xmlns:a16="http://schemas.microsoft.com/office/drawing/2014/main" id="{6A74F792-29CE-A4F7-16AE-FE6DE1069F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D0C0D-21FF-FB9F-8A5B-E7E739D66350}"/>
              </a:ext>
            </a:extLst>
          </p:cNvPr>
          <p:cNvSpPr>
            <a:spLocks noGrp="1"/>
          </p:cNvSpPr>
          <p:nvPr>
            <p:ph type="sldNum" sz="quarter" idx="12"/>
          </p:nvPr>
        </p:nvSpPr>
        <p:spPr/>
        <p:txBody>
          <a:bodyPr/>
          <a:lstStyle/>
          <a:p>
            <a:fld id="{A2729D1F-4A23-4BAD-A939-5E1986995831}" type="slidenum">
              <a:rPr lang="en-US" smtClean="0"/>
              <a:t>‹#›</a:t>
            </a:fld>
            <a:endParaRPr lang="en-US"/>
          </a:p>
        </p:txBody>
      </p:sp>
    </p:spTree>
    <p:extLst>
      <p:ext uri="{BB962C8B-B14F-4D97-AF65-F5344CB8AC3E}">
        <p14:creationId xmlns:p14="http://schemas.microsoft.com/office/powerpoint/2010/main" val="39815494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96B53-1D68-613A-E3DC-0BBA4A69F18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8444B85-2708-2C78-75EF-E66C115CF80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09FB78-1A54-EFE8-3A35-51DABF489774}"/>
              </a:ext>
            </a:extLst>
          </p:cNvPr>
          <p:cNvSpPr>
            <a:spLocks noGrp="1"/>
          </p:cNvSpPr>
          <p:nvPr>
            <p:ph type="dt" sz="half" idx="10"/>
          </p:nvPr>
        </p:nvSpPr>
        <p:spPr/>
        <p:txBody>
          <a:bodyPr/>
          <a:lstStyle/>
          <a:p>
            <a:fld id="{7B9863D8-57C3-43F6-A3C2-D09DFF24CC1E}" type="datetimeFigureOut">
              <a:rPr lang="en-US" smtClean="0"/>
              <a:t>10/10/2026</a:t>
            </a:fld>
            <a:endParaRPr lang="en-US"/>
          </a:p>
        </p:txBody>
      </p:sp>
      <p:sp>
        <p:nvSpPr>
          <p:cNvPr id="5" name="Footer Placeholder 4">
            <a:extLst>
              <a:ext uri="{FF2B5EF4-FFF2-40B4-BE49-F238E27FC236}">
                <a16:creationId xmlns:a16="http://schemas.microsoft.com/office/drawing/2014/main" id="{4D557FB6-C8E5-FDF7-351D-8D48D942B4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FA0125-499A-E8FE-8C98-0DE3BFD2436D}"/>
              </a:ext>
            </a:extLst>
          </p:cNvPr>
          <p:cNvSpPr>
            <a:spLocks noGrp="1"/>
          </p:cNvSpPr>
          <p:nvPr>
            <p:ph type="sldNum" sz="quarter" idx="12"/>
          </p:nvPr>
        </p:nvSpPr>
        <p:spPr/>
        <p:txBody>
          <a:bodyPr/>
          <a:lstStyle/>
          <a:p>
            <a:fld id="{A2729D1F-4A23-4BAD-A939-5E1986995831}" type="slidenum">
              <a:rPr lang="en-US" smtClean="0"/>
              <a:t>‹#›</a:t>
            </a:fld>
            <a:endParaRPr lang="en-US"/>
          </a:p>
        </p:txBody>
      </p:sp>
    </p:spTree>
    <p:extLst>
      <p:ext uri="{BB962C8B-B14F-4D97-AF65-F5344CB8AC3E}">
        <p14:creationId xmlns:p14="http://schemas.microsoft.com/office/powerpoint/2010/main" val="18815969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324E1C7-382D-A8A7-2D95-6F35EB94573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FA7EA8-FF19-EB87-E246-2CB618BD6C0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06BE54-1A8E-C967-D5EE-326D3484795C}"/>
              </a:ext>
            </a:extLst>
          </p:cNvPr>
          <p:cNvSpPr>
            <a:spLocks noGrp="1"/>
          </p:cNvSpPr>
          <p:nvPr>
            <p:ph type="dt" sz="half" idx="10"/>
          </p:nvPr>
        </p:nvSpPr>
        <p:spPr/>
        <p:txBody>
          <a:bodyPr/>
          <a:lstStyle/>
          <a:p>
            <a:fld id="{7B9863D8-57C3-43F6-A3C2-D09DFF24CC1E}" type="datetimeFigureOut">
              <a:rPr lang="en-US" smtClean="0"/>
              <a:t>10/10/2026</a:t>
            </a:fld>
            <a:endParaRPr lang="en-US"/>
          </a:p>
        </p:txBody>
      </p:sp>
      <p:sp>
        <p:nvSpPr>
          <p:cNvPr id="5" name="Footer Placeholder 4">
            <a:extLst>
              <a:ext uri="{FF2B5EF4-FFF2-40B4-BE49-F238E27FC236}">
                <a16:creationId xmlns:a16="http://schemas.microsoft.com/office/drawing/2014/main" id="{53A2CA1F-3C23-250C-0405-87BE634BF6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3E5387-D404-B9E7-3004-7F0E04E6B70B}"/>
              </a:ext>
            </a:extLst>
          </p:cNvPr>
          <p:cNvSpPr>
            <a:spLocks noGrp="1"/>
          </p:cNvSpPr>
          <p:nvPr>
            <p:ph type="sldNum" sz="quarter" idx="12"/>
          </p:nvPr>
        </p:nvSpPr>
        <p:spPr/>
        <p:txBody>
          <a:bodyPr/>
          <a:lstStyle/>
          <a:p>
            <a:fld id="{A2729D1F-4A23-4BAD-A939-5E1986995831}" type="slidenum">
              <a:rPr lang="en-US" smtClean="0"/>
              <a:t>‹#›</a:t>
            </a:fld>
            <a:endParaRPr lang="en-US"/>
          </a:p>
        </p:txBody>
      </p:sp>
    </p:spTree>
    <p:extLst>
      <p:ext uri="{BB962C8B-B14F-4D97-AF65-F5344CB8AC3E}">
        <p14:creationId xmlns:p14="http://schemas.microsoft.com/office/powerpoint/2010/main" val="20896378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244C85B-6C29-9A1F-4A2B-BEA1B3CBC4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CB37BBE-2F81-72A2-9F96-3D54D3F5FED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E7B5B3-ABDF-7242-0FAD-F3003FFD56C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9863D8-57C3-43F6-A3C2-D09DFF24CC1E}" type="datetimeFigureOut">
              <a:rPr lang="en-US" smtClean="0"/>
              <a:t>10/10/2026</a:t>
            </a:fld>
            <a:endParaRPr lang="en-US"/>
          </a:p>
        </p:txBody>
      </p:sp>
      <p:sp>
        <p:nvSpPr>
          <p:cNvPr id="5" name="Footer Placeholder 4">
            <a:extLst>
              <a:ext uri="{FF2B5EF4-FFF2-40B4-BE49-F238E27FC236}">
                <a16:creationId xmlns:a16="http://schemas.microsoft.com/office/drawing/2014/main" id="{36513CE3-31B7-4E76-7317-AB83D2AF4C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CC10A97-7370-3BB0-B521-D65D1E1F62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729D1F-4A23-4BAD-A939-5E1986995831}" type="slidenum">
              <a:rPr lang="en-US" smtClean="0"/>
              <a:t>‹#›</a:t>
            </a:fld>
            <a:endParaRPr lang="en-US"/>
          </a:p>
        </p:txBody>
      </p:sp>
    </p:spTree>
    <p:extLst>
      <p:ext uri="{BB962C8B-B14F-4D97-AF65-F5344CB8AC3E}">
        <p14:creationId xmlns:p14="http://schemas.microsoft.com/office/powerpoint/2010/main" val="15231977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tahmina.akter@bubt.edu.bd"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38400C27-7C07-1098-F16C-8238008FC566}"/>
              </a:ext>
            </a:extLst>
          </p:cNvPr>
          <p:cNvSpPr>
            <a:spLocks noGrp="1" noChangeArrowheads="1"/>
          </p:cNvSpPr>
          <p:nvPr>
            <p:ph type="ctrTitle"/>
          </p:nvPr>
        </p:nvSpPr>
        <p:spPr>
          <a:xfrm>
            <a:off x="2340928" y="528320"/>
            <a:ext cx="7772400" cy="2458022"/>
          </a:xfrm>
        </p:spPr>
        <p:txBody>
          <a:bodyPr>
            <a:normAutofit/>
          </a:bodyPr>
          <a:lstStyle/>
          <a:p>
            <a:pPr algn="ctr" eaLnBrk="1" hangingPunct="1"/>
            <a:r>
              <a:rPr lang="it-IT" altLang="en-US" sz="4700" b="1" dirty="0"/>
              <a:t>Public Finance</a:t>
            </a:r>
            <a:br>
              <a:rPr lang="it-IT" altLang="en-US" sz="4700" b="1" dirty="0"/>
            </a:br>
            <a:r>
              <a:rPr lang="it-IT" altLang="en-US" sz="4700" b="1" dirty="0"/>
              <a:t>Lecture-5</a:t>
            </a:r>
            <a:br>
              <a:rPr lang="it-IT" altLang="en-US" sz="4700" b="1" dirty="0"/>
            </a:br>
            <a:r>
              <a:rPr lang="it-IT" altLang="en-US" sz="4700" b="1"/>
              <a:t>Public Choice Theory</a:t>
            </a:r>
            <a:endParaRPr lang="it-IT" altLang="en-US" sz="4700" b="1" dirty="0"/>
          </a:p>
        </p:txBody>
      </p:sp>
      <p:sp>
        <p:nvSpPr>
          <p:cNvPr id="5123" name="Rectangle 3">
            <a:extLst>
              <a:ext uri="{FF2B5EF4-FFF2-40B4-BE49-F238E27FC236}">
                <a16:creationId xmlns:a16="http://schemas.microsoft.com/office/drawing/2014/main" id="{F60DC52A-AC55-8831-ED66-08BBF4CA6FE6}"/>
              </a:ext>
            </a:extLst>
          </p:cNvPr>
          <p:cNvSpPr>
            <a:spLocks noGrp="1" noChangeArrowheads="1"/>
          </p:cNvSpPr>
          <p:nvPr>
            <p:ph type="subTitle" idx="1"/>
          </p:nvPr>
        </p:nvSpPr>
        <p:spPr>
          <a:xfrm>
            <a:off x="1876997" y="3357562"/>
            <a:ext cx="8720582" cy="2458022"/>
          </a:xfrm>
        </p:spPr>
        <p:txBody>
          <a:bodyPr>
            <a:normAutofit/>
          </a:bodyPr>
          <a:lstStyle/>
          <a:p>
            <a:pPr eaLnBrk="1" hangingPunct="1">
              <a:lnSpc>
                <a:spcPct val="150000"/>
              </a:lnSpc>
            </a:pPr>
            <a:r>
              <a:rPr lang="it-IT" altLang="en-US" dirty="0"/>
              <a:t>Tahmina Akter ( </a:t>
            </a:r>
            <a:r>
              <a:rPr lang="it-IT" altLang="en-US" dirty="0">
                <a:hlinkClick r:id="rId3"/>
              </a:rPr>
              <a:t>tahmina.akter@bubt.edu.bd</a:t>
            </a:r>
            <a:r>
              <a:rPr lang="it-IT" altLang="en-US" dirty="0"/>
              <a:t> )</a:t>
            </a:r>
          </a:p>
          <a:p>
            <a:pPr eaLnBrk="1" hangingPunct="1">
              <a:lnSpc>
                <a:spcPct val="150000"/>
              </a:lnSpc>
            </a:pPr>
            <a:r>
              <a:rPr lang="it-IT" altLang="en-US" dirty="0"/>
              <a:t>Assistant Professor, Economics, BUBT </a:t>
            </a:r>
          </a:p>
          <a:p>
            <a:pPr eaLnBrk="1" hangingPunct="1">
              <a:lnSpc>
                <a:spcPct val="150000"/>
              </a:lnSpc>
            </a:pPr>
            <a:r>
              <a:rPr lang="it-IT" altLang="en-US" dirty="0"/>
              <a:t>References: Browning chapter 3, Rosen chapter 6, Stiglitz chapter 9 </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51BC2-AC09-E863-8316-52E6C8713FED}"/>
              </a:ext>
            </a:extLst>
          </p:cNvPr>
          <p:cNvSpPr>
            <a:spLocks noGrp="1"/>
          </p:cNvSpPr>
          <p:nvPr>
            <p:ph type="title"/>
          </p:nvPr>
        </p:nvSpPr>
        <p:spPr/>
        <p:txBody>
          <a:bodyPr/>
          <a:lstStyle/>
          <a:p>
            <a:r>
              <a:rPr lang="en-US" b="1" dirty="0"/>
              <a:t>Public Choice							B</a:t>
            </a:r>
          </a:p>
        </p:txBody>
      </p:sp>
      <p:sp>
        <p:nvSpPr>
          <p:cNvPr id="3" name="Content Placeholder 2">
            <a:extLst>
              <a:ext uri="{FF2B5EF4-FFF2-40B4-BE49-F238E27FC236}">
                <a16:creationId xmlns:a16="http://schemas.microsoft.com/office/drawing/2014/main" id="{6A5109CB-0DE4-7155-A93E-E97D5ED2A60B}"/>
              </a:ext>
            </a:extLst>
          </p:cNvPr>
          <p:cNvSpPr>
            <a:spLocks noGrp="1"/>
          </p:cNvSpPr>
          <p:nvPr>
            <p:ph idx="1"/>
          </p:nvPr>
        </p:nvSpPr>
        <p:spPr/>
        <p:txBody>
          <a:bodyPr/>
          <a:lstStyle/>
          <a:p>
            <a:r>
              <a:rPr lang="en-US" dirty="0"/>
              <a:t>The theory of public choice is the study of how governmental decisions are made and implemented; as such, it essentially involves an analysis of the political process. </a:t>
            </a:r>
          </a:p>
          <a:p>
            <a:r>
              <a:rPr lang="en-US" dirty="0"/>
              <a:t>Public choice theory tries to explain what government actually does (or will do in certain circumstances), as distinct from an attempt to prescribe what government should do.</a:t>
            </a:r>
          </a:p>
          <a:p>
            <a:r>
              <a:rPr lang="en-US" dirty="0"/>
              <a:t>This approach is based on the premise that individuals attempt to further their own interests in their political activities, just as in their economic activities.</a:t>
            </a:r>
          </a:p>
        </p:txBody>
      </p:sp>
    </p:spTree>
    <p:extLst>
      <p:ext uri="{BB962C8B-B14F-4D97-AF65-F5344CB8AC3E}">
        <p14:creationId xmlns:p14="http://schemas.microsoft.com/office/powerpoint/2010/main" val="9277715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C61FA-D53A-D00F-A538-3A4428A6EB11}"/>
              </a:ext>
            </a:extLst>
          </p:cNvPr>
          <p:cNvSpPr>
            <a:spLocks noGrp="1"/>
          </p:cNvSpPr>
          <p:nvPr>
            <p:ph type="title"/>
          </p:nvPr>
        </p:nvSpPr>
        <p:spPr/>
        <p:txBody>
          <a:bodyPr/>
          <a:lstStyle/>
          <a:p>
            <a:r>
              <a:rPr lang="en-US" b="1" dirty="0"/>
              <a:t>Voting and Resource Allocation</a:t>
            </a:r>
          </a:p>
        </p:txBody>
      </p:sp>
      <p:sp>
        <p:nvSpPr>
          <p:cNvPr id="3" name="Content Placeholder 2">
            <a:extLst>
              <a:ext uri="{FF2B5EF4-FFF2-40B4-BE49-F238E27FC236}">
                <a16:creationId xmlns:a16="http://schemas.microsoft.com/office/drawing/2014/main" id="{1B9EB42F-523E-1822-9A00-DE2346ACECD7}"/>
              </a:ext>
            </a:extLst>
          </p:cNvPr>
          <p:cNvSpPr>
            <a:spLocks noGrp="1"/>
          </p:cNvSpPr>
          <p:nvPr>
            <p:ph idx="1"/>
          </p:nvPr>
        </p:nvSpPr>
        <p:spPr/>
        <p:txBody>
          <a:bodyPr/>
          <a:lstStyle/>
          <a:p>
            <a:r>
              <a:rPr lang="en-US" sz="3600" dirty="0"/>
              <a:t>Unanimity rules</a:t>
            </a:r>
          </a:p>
          <a:p>
            <a:r>
              <a:rPr lang="en-US" sz="3600" dirty="0"/>
              <a:t>Direct majority voting</a:t>
            </a:r>
          </a:p>
          <a:p>
            <a:r>
              <a:rPr lang="en-US" sz="3600" dirty="0"/>
              <a:t>Median voter theorem</a:t>
            </a:r>
          </a:p>
          <a:p>
            <a:r>
              <a:rPr lang="en-US" sz="3600" dirty="0"/>
              <a:t>Logrolling</a:t>
            </a:r>
          </a:p>
          <a:p>
            <a:pPr marL="0" indent="0">
              <a:buNone/>
            </a:pPr>
            <a:endParaRPr lang="en-US" dirty="0"/>
          </a:p>
          <a:p>
            <a:endParaRPr lang="en-US" dirty="0"/>
          </a:p>
        </p:txBody>
      </p:sp>
    </p:spTree>
    <p:extLst>
      <p:ext uri="{BB962C8B-B14F-4D97-AF65-F5344CB8AC3E}">
        <p14:creationId xmlns:p14="http://schemas.microsoft.com/office/powerpoint/2010/main" val="36497644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436F5-0A94-A908-82B3-4FFBB1F1300C}"/>
              </a:ext>
            </a:extLst>
          </p:cNvPr>
          <p:cNvSpPr>
            <a:spLocks noGrp="1"/>
          </p:cNvSpPr>
          <p:nvPr>
            <p:ph type="title"/>
          </p:nvPr>
        </p:nvSpPr>
        <p:spPr/>
        <p:txBody>
          <a:bodyPr/>
          <a:lstStyle/>
          <a:p>
            <a:r>
              <a:rPr lang="en-US" b="1" dirty="0"/>
              <a:t>Unanimity Rules							R</a:t>
            </a:r>
          </a:p>
        </p:txBody>
      </p:sp>
      <p:sp>
        <p:nvSpPr>
          <p:cNvPr id="3" name="Content Placeholder 2">
            <a:extLst>
              <a:ext uri="{FF2B5EF4-FFF2-40B4-BE49-F238E27FC236}">
                <a16:creationId xmlns:a16="http://schemas.microsoft.com/office/drawing/2014/main" id="{D154FF26-214A-7203-8A9E-141FAE010E32}"/>
              </a:ext>
            </a:extLst>
          </p:cNvPr>
          <p:cNvSpPr>
            <a:spLocks noGrp="1"/>
          </p:cNvSpPr>
          <p:nvPr>
            <p:ph idx="1"/>
          </p:nvPr>
        </p:nvSpPr>
        <p:spPr/>
        <p:txBody>
          <a:bodyPr/>
          <a:lstStyle/>
          <a:p>
            <a:r>
              <a:rPr lang="en-US" dirty="0"/>
              <a:t>The free rider problem can lead to a disturbing situation— because people are selfish, public goods are underprovided, even though everyone could be made better off if they were provided in efficient amounts. This suggests that, in principle, if a vote were taken on whether to provide an efficient quantity of the good, consent would be unanimous as long as there was a suitable tax system to finance it. A procedure designed to elicit unanimous agreement was proposed in the early 20th century by Erik Lindahl.</a:t>
            </a:r>
          </a:p>
        </p:txBody>
      </p:sp>
    </p:spTree>
    <p:extLst>
      <p:ext uri="{BB962C8B-B14F-4D97-AF65-F5344CB8AC3E}">
        <p14:creationId xmlns:p14="http://schemas.microsoft.com/office/powerpoint/2010/main" val="7812540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4E38C-5839-0073-1E31-C10FC905E613}"/>
              </a:ext>
            </a:extLst>
          </p:cNvPr>
          <p:cNvSpPr>
            <a:spLocks noGrp="1"/>
          </p:cNvSpPr>
          <p:nvPr>
            <p:ph type="title"/>
          </p:nvPr>
        </p:nvSpPr>
        <p:spPr>
          <a:xfrm>
            <a:off x="838200" y="365125"/>
            <a:ext cx="10515600" cy="988187"/>
          </a:xfrm>
        </p:spPr>
        <p:txBody>
          <a:bodyPr/>
          <a:lstStyle/>
          <a:p>
            <a:r>
              <a:rPr lang="en-US" b="1" dirty="0"/>
              <a:t>Direct Majority Voting					R</a:t>
            </a:r>
          </a:p>
        </p:txBody>
      </p:sp>
      <p:graphicFrame>
        <p:nvGraphicFramePr>
          <p:cNvPr id="5" name="Content Placeholder 4">
            <a:extLst>
              <a:ext uri="{FF2B5EF4-FFF2-40B4-BE49-F238E27FC236}">
                <a16:creationId xmlns:a16="http://schemas.microsoft.com/office/drawing/2014/main" id="{AAF3D14D-D050-21C5-6262-92DAA787D274}"/>
              </a:ext>
            </a:extLst>
          </p:cNvPr>
          <p:cNvGraphicFramePr>
            <a:graphicFrameLocks noGrp="1"/>
          </p:cNvGraphicFramePr>
          <p:nvPr>
            <p:ph sz="half" idx="1"/>
            <p:extLst>
              <p:ext uri="{D42A27DB-BD31-4B8C-83A1-F6EECF244321}">
                <p14:modId xmlns:p14="http://schemas.microsoft.com/office/powerpoint/2010/main" val="3282136693"/>
              </p:ext>
            </p:extLst>
          </p:nvPr>
        </p:nvGraphicFramePr>
        <p:xfrm>
          <a:off x="553454" y="1825625"/>
          <a:ext cx="5618746" cy="2411380"/>
        </p:xfrm>
        <a:graphic>
          <a:graphicData uri="http://schemas.openxmlformats.org/drawingml/2006/table">
            <a:tbl>
              <a:tblPr firstRow="1" firstCol="1" bandRow="1">
                <a:tableStyleId>{5C22544A-7EE6-4342-B048-85BDC9FD1C3A}</a:tableStyleId>
              </a:tblPr>
              <a:tblGrid>
                <a:gridCol w="1404386">
                  <a:extLst>
                    <a:ext uri="{9D8B030D-6E8A-4147-A177-3AD203B41FA5}">
                      <a16:colId xmlns:a16="http://schemas.microsoft.com/office/drawing/2014/main" val="1284963345"/>
                    </a:ext>
                  </a:extLst>
                </a:gridCol>
                <a:gridCol w="1404386">
                  <a:extLst>
                    <a:ext uri="{9D8B030D-6E8A-4147-A177-3AD203B41FA5}">
                      <a16:colId xmlns:a16="http://schemas.microsoft.com/office/drawing/2014/main" val="3185685925"/>
                    </a:ext>
                  </a:extLst>
                </a:gridCol>
                <a:gridCol w="1281964">
                  <a:extLst>
                    <a:ext uri="{9D8B030D-6E8A-4147-A177-3AD203B41FA5}">
                      <a16:colId xmlns:a16="http://schemas.microsoft.com/office/drawing/2014/main" val="4288019815"/>
                    </a:ext>
                  </a:extLst>
                </a:gridCol>
                <a:gridCol w="1528010">
                  <a:extLst>
                    <a:ext uri="{9D8B030D-6E8A-4147-A177-3AD203B41FA5}">
                      <a16:colId xmlns:a16="http://schemas.microsoft.com/office/drawing/2014/main" val="1111409072"/>
                    </a:ext>
                  </a:extLst>
                </a:gridCol>
              </a:tblGrid>
              <a:tr h="602845">
                <a:tc>
                  <a:txBody>
                    <a:bodyPr/>
                    <a:lstStyle/>
                    <a:p>
                      <a:pPr marL="0" marR="0" algn="ctr">
                        <a:lnSpc>
                          <a:spcPct val="107000"/>
                        </a:lnSpc>
                        <a:spcAft>
                          <a:spcPts val="800"/>
                        </a:spcAft>
                        <a:buNone/>
                      </a:pPr>
                      <a:r>
                        <a:rPr lang="en-US" sz="2800" dirty="0">
                          <a:effectLst/>
                        </a:rPr>
                        <a:t>Rank</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Aft>
                          <a:spcPts val="800"/>
                        </a:spcAft>
                        <a:buNone/>
                      </a:pPr>
                      <a:r>
                        <a:rPr lang="en-US" sz="2800" dirty="0">
                          <a:effectLst/>
                        </a:rPr>
                        <a:t>Brad</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Aft>
                          <a:spcPts val="800"/>
                        </a:spcAft>
                        <a:buNone/>
                      </a:pPr>
                      <a:r>
                        <a:rPr lang="en-US" sz="2800" dirty="0">
                          <a:effectLst/>
                        </a:rPr>
                        <a:t>Jen</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Aft>
                          <a:spcPts val="800"/>
                        </a:spcAft>
                        <a:buNone/>
                      </a:pPr>
                      <a:r>
                        <a:rPr lang="en-US" sz="2800" dirty="0">
                          <a:effectLst/>
                        </a:rPr>
                        <a:t>Angelina</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5652332"/>
                  </a:ext>
                </a:extLst>
              </a:tr>
              <a:tr h="602845">
                <a:tc>
                  <a:txBody>
                    <a:bodyPr/>
                    <a:lstStyle/>
                    <a:p>
                      <a:pPr marL="0" marR="0" algn="ctr">
                        <a:lnSpc>
                          <a:spcPct val="107000"/>
                        </a:lnSpc>
                        <a:spcAft>
                          <a:spcPts val="800"/>
                        </a:spcAft>
                        <a:buNone/>
                      </a:pPr>
                      <a:r>
                        <a:rPr lang="en-US" sz="2800" dirty="0">
                          <a:effectLst/>
                        </a:rPr>
                        <a:t>First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Aft>
                          <a:spcPts val="800"/>
                        </a:spcAft>
                        <a:buNone/>
                      </a:pPr>
                      <a:r>
                        <a:rPr lang="en-US" sz="2800" dirty="0">
                          <a:effectLst/>
                        </a:rPr>
                        <a:t>A</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Aft>
                          <a:spcPts val="800"/>
                        </a:spcAft>
                        <a:buNone/>
                      </a:pPr>
                      <a:r>
                        <a:rPr lang="en-US" sz="2800" dirty="0">
                          <a:effectLst/>
                          <a:latin typeface="Calibri" panose="020F0502020204030204" pitchFamily="34" charset="0"/>
                          <a:ea typeface="Calibri" panose="020F0502020204030204" pitchFamily="34" charset="0"/>
                          <a:cs typeface="Times New Roman" panose="02020603050405020304" pitchFamily="18" charset="0"/>
                        </a:rPr>
                        <a:t>C</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Aft>
                          <a:spcPts val="800"/>
                        </a:spcAft>
                        <a:buNone/>
                      </a:pPr>
                      <a:r>
                        <a:rPr lang="en-US" sz="2800" dirty="0">
                          <a:effectLst/>
                          <a:latin typeface="Calibri" panose="020F0502020204030204" pitchFamily="34" charset="0"/>
                          <a:ea typeface="Calibri" panose="020F0502020204030204" pitchFamily="34" charset="0"/>
                          <a:cs typeface="Times New Roman" panose="02020603050405020304" pitchFamily="18" charset="0"/>
                        </a:rPr>
                        <a:t>B</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52227297"/>
                  </a:ext>
                </a:extLst>
              </a:tr>
              <a:tr h="602845">
                <a:tc>
                  <a:txBody>
                    <a:bodyPr/>
                    <a:lstStyle/>
                    <a:p>
                      <a:pPr marL="0" marR="0" algn="ctr">
                        <a:lnSpc>
                          <a:spcPct val="107000"/>
                        </a:lnSpc>
                        <a:spcAft>
                          <a:spcPts val="800"/>
                        </a:spcAft>
                        <a:buNone/>
                      </a:pPr>
                      <a:r>
                        <a:rPr lang="en-US" sz="2800" dirty="0">
                          <a:effectLst/>
                          <a:latin typeface="Calibri" panose="020F0502020204030204" pitchFamily="34" charset="0"/>
                          <a:ea typeface="Calibri" panose="020F0502020204030204" pitchFamily="34" charset="0"/>
                          <a:cs typeface="Times New Roman" panose="02020603050405020304" pitchFamily="18" charset="0"/>
                        </a:rPr>
                        <a:t>Second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Aft>
                          <a:spcPts val="800"/>
                        </a:spcAft>
                        <a:buNone/>
                      </a:pPr>
                      <a:r>
                        <a:rPr lang="en-US" sz="2800" dirty="0">
                          <a:effectLst/>
                          <a:latin typeface="Calibri" panose="020F0502020204030204" pitchFamily="34" charset="0"/>
                          <a:ea typeface="Calibri" panose="020F0502020204030204" pitchFamily="34" charset="0"/>
                          <a:cs typeface="Times New Roman" panose="02020603050405020304" pitchFamily="18" charset="0"/>
                        </a:rPr>
                        <a:t>B</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Aft>
                          <a:spcPts val="800"/>
                        </a:spcAft>
                        <a:buNone/>
                      </a:pPr>
                      <a:r>
                        <a:rPr lang="en-US" sz="2800" dirty="0">
                          <a:effectLst/>
                          <a:latin typeface="Calibri" panose="020F0502020204030204" pitchFamily="34" charset="0"/>
                          <a:ea typeface="Calibri" panose="020F0502020204030204" pitchFamily="34" charset="0"/>
                          <a:cs typeface="Times New Roman" panose="02020603050405020304" pitchFamily="18" charset="0"/>
                        </a:rPr>
                        <a:t>B</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Aft>
                          <a:spcPts val="800"/>
                        </a:spcAft>
                        <a:buNone/>
                      </a:pPr>
                      <a:r>
                        <a:rPr lang="en-US" sz="2800" dirty="0">
                          <a:effectLst/>
                          <a:latin typeface="Calibri" panose="020F0502020204030204" pitchFamily="34" charset="0"/>
                          <a:ea typeface="Calibri" panose="020F0502020204030204" pitchFamily="34" charset="0"/>
                          <a:cs typeface="Times New Roman" panose="02020603050405020304" pitchFamily="18" charset="0"/>
                        </a:rPr>
                        <a:t>C</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66482658"/>
                  </a:ext>
                </a:extLst>
              </a:tr>
              <a:tr h="602845">
                <a:tc>
                  <a:txBody>
                    <a:bodyPr/>
                    <a:lstStyle/>
                    <a:p>
                      <a:pPr marL="0" marR="0" algn="ctr">
                        <a:lnSpc>
                          <a:spcPct val="107000"/>
                        </a:lnSpc>
                        <a:spcAft>
                          <a:spcPts val="800"/>
                        </a:spcAft>
                        <a:buNone/>
                      </a:pPr>
                      <a:r>
                        <a:rPr lang="en-US" sz="2800" dirty="0">
                          <a:effectLst/>
                          <a:latin typeface="Calibri" panose="020F0502020204030204" pitchFamily="34" charset="0"/>
                          <a:ea typeface="Calibri" panose="020F0502020204030204" pitchFamily="34" charset="0"/>
                          <a:cs typeface="Times New Roman" panose="02020603050405020304" pitchFamily="18" charset="0"/>
                        </a:rPr>
                        <a:t>Third</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Aft>
                          <a:spcPts val="800"/>
                        </a:spcAft>
                        <a:buNone/>
                      </a:pPr>
                      <a:r>
                        <a:rPr lang="en-US" sz="2800" dirty="0">
                          <a:effectLst/>
                          <a:latin typeface="Calibri" panose="020F0502020204030204" pitchFamily="34" charset="0"/>
                          <a:ea typeface="Calibri" panose="020F0502020204030204" pitchFamily="34" charset="0"/>
                          <a:cs typeface="Times New Roman" panose="02020603050405020304" pitchFamily="18" charset="0"/>
                        </a:rPr>
                        <a:t>C</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Aft>
                          <a:spcPts val="800"/>
                        </a:spcAft>
                        <a:buNone/>
                      </a:pPr>
                      <a:r>
                        <a:rPr lang="en-US" sz="2800" dirty="0">
                          <a:effectLst/>
                          <a:latin typeface="Calibri" panose="020F0502020204030204" pitchFamily="34" charset="0"/>
                          <a:ea typeface="Calibri" panose="020F0502020204030204" pitchFamily="34" charset="0"/>
                          <a:cs typeface="Times New Roman" panose="02020603050405020304" pitchFamily="18" charset="0"/>
                        </a:rPr>
                        <a:t>A</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Aft>
                          <a:spcPts val="800"/>
                        </a:spcAft>
                        <a:buNone/>
                      </a:pPr>
                      <a:r>
                        <a:rPr lang="en-US" sz="2800" dirty="0">
                          <a:effectLst/>
                          <a:latin typeface="Calibri" panose="020F0502020204030204" pitchFamily="34" charset="0"/>
                          <a:ea typeface="Calibri" panose="020F0502020204030204" pitchFamily="34" charset="0"/>
                          <a:cs typeface="Times New Roman" panose="02020603050405020304" pitchFamily="18" charset="0"/>
                        </a:rPr>
                        <a:t>A</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66090833"/>
                  </a:ext>
                </a:extLst>
              </a:tr>
            </a:tbl>
          </a:graphicData>
        </a:graphic>
      </p:graphicFrame>
      <p:sp>
        <p:nvSpPr>
          <p:cNvPr id="6" name="Content Placeholder 5">
            <a:extLst>
              <a:ext uri="{FF2B5EF4-FFF2-40B4-BE49-F238E27FC236}">
                <a16:creationId xmlns:a16="http://schemas.microsoft.com/office/drawing/2014/main" id="{643FDAAB-DE93-29BF-F8EF-954FDD44563A}"/>
              </a:ext>
            </a:extLst>
          </p:cNvPr>
          <p:cNvSpPr>
            <a:spLocks noGrp="1"/>
          </p:cNvSpPr>
          <p:nvPr>
            <p:ph sz="half" idx="2"/>
          </p:nvPr>
        </p:nvSpPr>
        <p:spPr>
          <a:xfrm>
            <a:off x="6172200" y="1485709"/>
            <a:ext cx="5486400" cy="5372291"/>
          </a:xfrm>
        </p:spPr>
        <p:txBody>
          <a:bodyPr>
            <a:normAutofit fontScale="92500"/>
          </a:bodyPr>
          <a:lstStyle/>
          <a:p>
            <a:r>
              <a:rPr lang="en-US" dirty="0"/>
              <a:t>In any pairwise elections level B wins.</a:t>
            </a:r>
          </a:p>
          <a:p>
            <a:r>
              <a:rPr lang="en-US" dirty="0"/>
              <a:t>Suppose an election were held on whether to adopt </a:t>
            </a:r>
            <a:r>
              <a:rPr lang="en-US" dirty="0">
                <a:highlight>
                  <a:srgbClr val="FFFF00"/>
                </a:highlight>
              </a:rPr>
              <a:t>A or B</a:t>
            </a:r>
            <a:r>
              <a:rPr lang="en-US" dirty="0"/>
              <a:t>. Brad would vote for A, while Jen and Angelina would vote for B. Hence, B would win by a vote of 2 to 1. Similarly, if an election were held between </a:t>
            </a:r>
            <a:r>
              <a:rPr lang="en-US" dirty="0">
                <a:highlight>
                  <a:srgbClr val="FFFF00"/>
                </a:highlight>
              </a:rPr>
              <a:t>B and C</a:t>
            </a:r>
            <a:r>
              <a:rPr lang="en-US" dirty="0"/>
              <a:t>, B would win by a vote of 2 to 1. </a:t>
            </a:r>
            <a:r>
              <a:rPr lang="en-US" b="1" i="1" dirty="0"/>
              <a:t>Level B wins any election against its opposition, and thus is the option selected by majority rule</a:t>
            </a:r>
            <a:r>
              <a:rPr lang="en-US" dirty="0"/>
              <a:t>. Note that the selection of B is independent of the order in which the votes are taken. </a:t>
            </a:r>
          </a:p>
        </p:txBody>
      </p:sp>
    </p:spTree>
    <p:extLst>
      <p:ext uri="{BB962C8B-B14F-4D97-AF65-F5344CB8AC3E}">
        <p14:creationId xmlns:p14="http://schemas.microsoft.com/office/powerpoint/2010/main" val="24148873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6052B-BE29-EB29-EA0E-42B36A1E00F7}"/>
              </a:ext>
            </a:extLst>
          </p:cNvPr>
          <p:cNvSpPr>
            <a:spLocks noGrp="1"/>
          </p:cNvSpPr>
          <p:nvPr>
            <p:ph type="title"/>
          </p:nvPr>
        </p:nvSpPr>
        <p:spPr>
          <a:xfrm>
            <a:off x="449179" y="365125"/>
            <a:ext cx="11389895" cy="924179"/>
          </a:xfrm>
        </p:spPr>
        <p:txBody>
          <a:bodyPr/>
          <a:lstStyle/>
          <a:p>
            <a:r>
              <a:rPr lang="en-US" b="1" dirty="0"/>
              <a:t>Contd.</a:t>
            </a:r>
          </a:p>
        </p:txBody>
      </p:sp>
      <p:graphicFrame>
        <p:nvGraphicFramePr>
          <p:cNvPr id="6" name="Content Placeholder 5">
            <a:extLst>
              <a:ext uri="{FF2B5EF4-FFF2-40B4-BE49-F238E27FC236}">
                <a16:creationId xmlns:a16="http://schemas.microsoft.com/office/drawing/2014/main" id="{A845871D-0C32-8E06-C213-1D295DC52A72}"/>
              </a:ext>
            </a:extLst>
          </p:cNvPr>
          <p:cNvGraphicFramePr>
            <a:graphicFrameLocks noGrp="1"/>
          </p:cNvGraphicFramePr>
          <p:nvPr>
            <p:ph sz="half" idx="1"/>
            <p:extLst>
              <p:ext uri="{D42A27DB-BD31-4B8C-83A1-F6EECF244321}">
                <p14:modId xmlns:p14="http://schemas.microsoft.com/office/powerpoint/2010/main" val="944061567"/>
              </p:ext>
            </p:extLst>
          </p:nvPr>
        </p:nvGraphicFramePr>
        <p:xfrm>
          <a:off x="449179" y="1825625"/>
          <a:ext cx="5570618" cy="2634080"/>
        </p:xfrm>
        <a:graphic>
          <a:graphicData uri="http://schemas.openxmlformats.org/drawingml/2006/table">
            <a:tbl>
              <a:tblPr firstRow="1" firstCol="1" bandRow="1">
                <a:tableStyleId>{5C22544A-7EE6-4342-B048-85BDC9FD1C3A}</a:tableStyleId>
              </a:tblPr>
              <a:tblGrid>
                <a:gridCol w="1392357">
                  <a:extLst>
                    <a:ext uri="{9D8B030D-6E8A-4147-A177-3AD203B41FA5}">
                      <a16:colId xmlns:a16="http://schemas.microsoft.com/office/drawing/2014/main" val="134112981"/>
                    </a:ext>
                  </a:extLst>
                </a:gridCol>
                <a:gridCol w="1318759">
                  <a:extLst>
                    <a:ext uri="{9D8B030D-6E8A-4147-A177-3AD203B41FA5}">
                      <a16:colId xmlns:a16="http://schemas.microsoft.com/office/drawing/2014/main" val="1875683434"/>
                    </a:ext>
                  </a:extLst>
                </a:gridCol>
                <a:gridCol w="1363579">
                  <a:extLst>
                    <a:ext uri="{9D8B030D-6E8A-4147-A177-3AD203B41FA5}">
                      <a16:colId xmlns:a16="http://schemas.microsoft.com/office/drawing/2014/main" val="2373450211"/>
                    </a:ext>
                  </a:extLst>
                </a:gridCol>
                <a:gridCol w="1495923">
                  <a:extLst>
                    <a:ext uri="{9D8B030D-6E8A-4147-A177-3AD203B41FA5}">
                      <a16:colId xmlns:a16="http://schemas.microsoft.com/office/drawing/2014/main" val="3439349837"/>
                    </a:ext>
                  </a:extLst>
                </a:gridCol>
              </a:tblGrid>
              <a:tr h="658520">
                <a:tc>
                  <a:txBody>
                    <a:bodyPr/>
                    <a:lstStyle/>
                    <a:p>
                      <a:pPr marL="0" marR="0" algn="ctr">
                        <a:lnSpc>
                          <a:spcPct val="107000"/>
                        </a:lnSpc>
                        <a:spcAft>
                          <a:spcPts val="800"/>
                        </a:spcAft>
                        <a:buNone/>
                      </a:pPr>
                      <a:r>
                        <a:rPr lang="en-US" sz="2800" baseline="0" dirty="0">
                          <a:effectLst/>
                        </a:rPr>
                        <a:t>Rank</a:t>
                      </a:r>
                      <a:endParaRPr lang="en-US" sz="2800" baseline="0" dirty="0">
                        <a:effectLst/>
                        <a:latin typeface="Calibri" panose="020F0502020204030204" pitchFamily="34" charset="0"/>
                        <a:ea typeface="Calibri" panose="020F0502020204030204" pitchFamily="34" charset="0"/>
                        <a:cs typeface="Times New Roman" panose="02020603050405020304" pitchFamily="18" charset="0"/>
                      </a:endParaRPr>
                    </a:p>
                  </a:txBody>
                  <a:tcPr marL="59852" marR="59852" marT="0" marB="0"/>
                </a:tc>
                <a:tc>
                  <a:txBody>
                    <a:bodyPr/>
                    <a:lstStyle/>
                    <a:p>
                      <a:pPr marL="0" marR="0" algn="ctr">
                        <a:lnSpc>
                          <a:spcPct val="107000"/>
                        </a:lnSpc>
                        <a:spcAft>
                          <a:spcPts val="800"/>
                        </a:spcAft>
                        <a:buNone/>
                      </a:pPr>
                      <a:r>
                        <a:rPr lang="en-US" sz="2800" baseline="0" dirty="0">
                          <a:effectLst/>
                        </a:rPr>
                        <a:t>Brad </a:t>
                      </a:r>
                      <a:endParaRPr lang="en-US" sz="2800" baseline="0" dirty="0">
                        <a:effectLst/>
                        <a:latin typeface="Calibri" panose="020F0502020204030204" pitchFamily="34" charset="0"/>
                        <a:ea typeface="Calibri" panose="020F0502020204030204" pitchFamily="34" charset="0"/>
                        <a:cs typeface="Times New Roman" panose="02020603050405020304" pitchFamily="18" charset="0"/>
                      </a:endParaRPr>
                    </a:p>
                  </a:txBody>
                  <a:tcPr marL="59852" marR="59852" marT="0" marB="0"/>
                </a:tc>
                <a:tc>
                  <a:txBody>
                    <a:bodyPr/>
                    <a:lstStyle/>
                    <a:p>
                      <a:pPr marL="0" marR="0" algn="ctr">
                        <a:lnSpc>
                          <a:spcPct val="107000"/>
                        </a:lnSpc>
                        <a:spcAft>
                          <a:spcPts val="800"/>
                        </a:spcAft>
                        <a:buNone/>
                      </a:pPr>
                      <a:r>
                        <a:rPr lang="en-US" sz="2800" baseline="0" dirty="0">
                          <a:effectLst/>
                        </a:rPr>
                        <a:t>Jen</a:t>
                      </a:r>
                      <a:endParaRPr lang="en-US" sz="2800" baseline="0" dirty="0">
                        <a:effectLst/>
                        <a:latin typeface="Calibri" panose="020F0502020204030204" pitchFamily="34" charset="0"/>
                        <a:ea typeface="Calibri" panose="020F0502020204030204" pitchFamily="34" charset="0"/>
                        <a:cs typeface="Times New Roman" panose="02020603050405020304" pitchFamily="18" charset="0"/>
                      </a:endParaRPr>
                    </a:p>
                  </a:txBody>
                  <a:tcPr marL="59852" marR="59852" marT="0" marB="0"/>
                </a:tc>
                <a:tc>
                  <a:txBody>
                    <a:bodyPr/>
                    <a:lstStyle/>
                    <a:p>
                      <a:pPr marL="0" marR="0" algn="ctr">
                        <a:lnSpc>
                          <a:spcPct val="107000"/>
                        </a:lnSpc>
                        <a:spcAft>
                          <a:spcPts val="800"/>
                        </a:spcAft>
                        <a:buNone/>
                      </a:pPr>
                      <a:r>
                        <a:rPr lang="en-US" sz="2800" baseline="0" dirty="0">
                          <a:effectLst/>
                        </a:rPr>
                        <a:t>Angelina</a:t>
                      </a:r>
                      <a:endParaRPr lang="en-US" sz="2800" baseline="0" dirty="0">
                        <a:effectLst/>
                        <a:latin typeface="Calibri" panose="020F0502020204030204" pitchFamily="34" charset="0"/>
                        <a:ea typeface="Calibri" panose="020F0502020204030204" pitchFamily="34" charset="0"/>
                        <a:cs typeface="Times New Roman" panose="02020603050405020304" pitchFamily="18" charset="0"/>
                      </a:endParaRPr>
                    </a:p>
                  </a:txBody>
                  <a:tcPr marL="59852" marR="59852" marT="0" marB="0"/>
                </a:tc>
                <a:extLst>
                  <a:ext uri="{0D108BD9-81ED-4DB2-BD59-A6C34878D82A}">
                    <a16:rowId xmlns:a16="http://schemas.microsoft.com/office/drawing/2014/main" val="3899823697"/>
                  </a:ext>
                </a:extLst>
              </a:tr>
              <a:tr h="658520">
                <a:tc>
                  <a:txBody>
                    <a:bodyPr/>
                    <a:lstStyle/>
                    <a:p>
                      <a:pPr marL="0" marR="0" algn="ctr">
                        <a:lnSpc>
                          <a:spcPct val="107000"/>
                        </a:lnSpc>
                        <a:spcAft>
                          <a:spcPts val="800"/>
                        </a:spcAft>
                        <a:buNone/>
                      </a:pPr>
                      <a:r>
                        <a:rPr lang="en-US" sz="2800" baseline="0" dirty="0">
                          <a:effectLst/>
                        </a:rPr>
                        <a:t>First</a:t>
                      </a:r>
                      <a:endParaRPr lang="en-US" sz="2800" baseline="0" dirty="0">
                        <a:effectLst/>
                        <a:latin typeface="Calibri" panose="020F0502020204030204" pitchFamily="34" charset="0"/>
                        <a:ea typeface="Calibri" panose="020F0502020204030204" pitchFamily="34" charset="0"/>
                        <a:cs typeface="Times New Roman" panose="02020603050405020304" pitchFamily="18" charset="0"/>
                      </a:endParaRPr>
                    </a:p>
                  </a:txBody>
                  <a:tcPr marL="59852" marR="59852" marT="0" marB="0"/>
                </a:tc>
                <a:tc>
                  <a:txBody>
                    <a:bodyPr/>
                    <a:lstStyle/>
                    <a:p>
                      <a:pPr marL="0" marR="0" algn="ctr">
                        <a:lnSpc>
                          <a:spcPct val="107000"/>
                        </a:lnSpc>
                        <a:spcAft>
                          <a:spcPts val="800"/>
                        </a:spcAft>
                        <a:buNone/>
                      </a:pPr>
                      <a:r>
                        <a:rPr lang="en-US" sz="2800" baseline="0" dirty="0">
                          <a:effectLst/>
                          <a:latin typeface="Calibri" panose="020F0502020204030204" pitchFamily="34" charset="0"/>
                          <a:ea typeface="Calibri" panose="020F0502020204030204" pitchFamily="34" charset="0"/>
                          <a:cs typeface="Times New Roman" panose="02020603050405020304" pitchFamily="18" charset="0"/>
                        </a:rPr>
                        <a:t>A</a:t>
                      </a:r>
                    </a:p>
                  </a:txBody>
                  <a:tcPr marL="59852" marR="59852" marT="0" marB="0"/>
                </a:tc>
                <a:tc>
                  <a:txBody>
                    <a:bodyPr/>
                    <a:lstStyle/>
                    <a:p>
                      <a:pPr marL="0" marR="0" algn="ctr">
                        <a:lnSpc>
                          <a:spcPct val="107000"/>
                        </a:lnSpc>
                        <a:spcAft>
                          <a:spcPts val="800"/>
                        </a:spcAft>
                        <a:buNone/>
                      </a:pPr>
                      <a:r>
                        <a:rPr lang="en-US" sz="2800" baseline="0" dirty="0">
                          <a:effectLst/>
                          <a:latin typeface="Calibri" panose="020F0502020204030204" pitchFamily="34" charset="0"/>
                          <a:ea typeface="Calibri" panose="020F0502020204030204" pitchFamily="34" charset="0"/>
                          <a:cs typeface="Times New Roman" panose="02020603050405020304" pitchFamily="18" charset="0"/>
                        </a:rPr>
                        <a:t>C</a:t>
                      </a:r>
                    </a:p>
                  </a:txBody>
                  <a:tcPr marL="59852" marR="59852" marT="0" marB="0"/>
                </a:tc>
                <a:tc>
                  <a:txBody>
                    <a:bodyPr/>
                    <a:lstStyle/>
                    <a:p>
                      <a:pPr marL="0" marR="0" algn="ctr">
                        <a:lnSpc>
                          <a:spcPct val="107000"/>
                        </a:lnSpc>
                        <a:spcAft>
                          <a:spcPts val="800"/>
                        </a:spcAft>
                        <a:buNone/>
                      </a:pPr>
                      <a:r>
                        <a:rPr lang="en-US" sz="2800" baseline="0" dirty="0">
                          <a:effectLst/>
                          <a:latin typeface="Calibri" panose="020F0502020204030204" pitchFamily="34" charset="0"/>
                          <a:ea typeface="Calibri" panose="020F0502020204030204" pitchFamily="34" charset="0"/>
                          <a:cs typeface="Times New Roman" panose="02020603050405020304" pitchFamily="18" charset="0"/>
                        </a:rPr>
                        <a:t>B</a:t>
                      </a:r>
                    </a:p>
                  </a:txBody>
                  <a:tcPr marL="59852" marR="59852" marT="0" marB="0"/>
                </a:tc>
                <a:extLst>
                  <a:ext uri="{0D108BD9-81ED-4DB2-BD59-A6C34878D82A}">
                    <a16:rowId xmlns:a16="http://schemas.microsoft.com/office/drawing/2014/main" val="2726590595"/>
                  </a:ext>
                </a:extLst>
              </a:tr>
              <a:tr h="658520">
                <a:tc>
                  <a:txBody>
                    <a:bodyPr/>
                    <a:lstStyle/>
                    <a:p>
                      <a:pPr marL="0" marR="0" algn="ctr">
                        <a:lnSpc>
                          <a:spcPct val="107000"/>
                        </a:lnSpc>
                        <a:spcAft>
                          <a:spcPts val="800"/>
                        </a:spcAft>
                        <a:buNone/>
                      </a:pPr>
                      <a:r>
                        <a:rPr lang="en-US" sz="2800" baseline="0" dirty="0">
                          <a:effectLst/>
                          <a:latin typeface="Calibri" panose="020F0502020204030204" pitchFamily="34" charset="0"/>
                          <a:ea typeface="Calibri" panose="020F0502020204030204" pitchFamily="34" charset="0"/>
                          <a:cs typeface="Times New Roman" panose="02020603050405020304" pitchFamily="18" charset="0"/>
                        </a:rPr>
                        <a:t>Second</a:t>
                      </a:r>
                    </a:p>
                  </a:txBody>
                  <a:tcPr marL="59852" marR="59852" marT="0" marB="0"/>
                </a:tc>
                <a:tc>
                  <a:txBody>
                    <a:bodyPr/>
                    <a:lstStyle/>
                    <a:p>
                      <a:pPr marL="0" marR="0" algn="ctr">
                        <a:lnSpc>
                          <a:spcPct val="107000"/>
                        </a:lnSpc>
                        <a:spcAft>
                          <a:spcPts val="800"/>
                        </a:spcAft>
                        <a:buNone/>
                      </a:pPr>
                      <a:r>
                        <a:rPr lang="en-US" sz="2800" baseline="0" dirty="0">
                          <a:effectLst/>
                          <a:latin typeface="Calibri" panose="020F0502020204030204" pitchFamily="34" charset="0"/>
                          <a:ea typeface="Calibri" panose="020F0502020204030204" pitchFamily="34" charset="0"/>
                          <a:cs typeface="Times New Roman" panose="02020603050405020304" pitchFamily="18" charset="0"/>
                        </a:rPr>
                        <a:t>B</a:t>
                      </a:r>
                    </a:p>
                  </a:txBody>
                  <a:tcPr marL="59852" marR="59852" marT="0" marB="0"/>
                </a:tc>
                <a:tc>
                  <a:txBody>
                    <a:bodyPr/>
                    <a:lstStyle/>
                    <a:p>
                      <a:pPr marL="0" marR="0" algn="ctr">
                        <a:lnSpc>
                          <a:spcPct val="107000"/>
                        </a:lnSpc>
                        <a:spcAft>
                          <a:spcPts val="800"/>
                        </a:spcAft>
                        <a:buNone/>
                      </a:pPr>
                      <a:r>
                        <a:rPr lang="en-US" sz="2800" baseline="0" dirty="0">
                          <a:effectLst/>
                          <a:latin typeface="Calibri" panose="020F0502020204030204" pitchFamily="34" charset="0"/>
                          <a:ea typeface="Calibri" panose="020F0502020204030204" pitchFamily="34" charset="0"/>
                          <a:cs typeface="Times New Roman" panose="02020603050405020304" pitchFamily="18" charset="0"/>
                        </a:rPr>
                        <a:t>A</a:t>
                      </a:r>
                    </a:p>
                  </a:txBody>
                  <a:tcPr marL="59852" marR="59852" marT="0" marB="0"/>
                </a:tc>
                <a:tc>
                  <a:txBody>
                    <a:bodyPr/>
                    <a:lstStyle/>
                    <a:p>
                      <a:pPr marL="0" marR="0" algn="ctr">
                        <a:lnSpc>
                          <a:spcPct val="107000"/>
                        </a:lnSpc>
                        <a:spcAft>
                          <a:spcPts val="800"/>
                        </a:spcAft>
                        <a:buNone/>
                      </a:pPr>
                      <a:r>
                        <a:rPr lang="en-US" sz="2800" baseline="0" dirty="0">
                          <a:effectLst/>
                          <a:latin typeface="Calibri" panose="020F0502020204030204" pitchFamily="34" charset="0"/>
                          <a:ea typeface="Calibri" panose="020F0502020204030204" pitchFamily="34" charset="0"/>
                          <a:cs typeface="Times New Roman" panose="02020603050405020304" pitchFamily="18" charset="0"/>
                        </a:rPr>
                        <a:t>C</a:t>
                      </a:r>
                    </a:p>
                  </a:txBody>
                  <a:tcPr marL="59852" marR="59852" marT="0" marB="0"/>
                </a:tc>
                <a:extLst>
                  <a:ext uri="{0D108BD9-81ED-4DB2-BD59-A6C34878D82A}">
                    <a16:rowId xmlns:a16="http://schemas.microsoft.com/office/drawing/2014/main" val="1074710883"/>
                  </a:ext>
                </a:extLst>
              </a:tr>
              <a:tr h="658520">
                <a:tc>
                  <a:txBody>
                    <a:bodyPr/>
                    <a:lstStyle/>
                    <a:p>
                      <a:pPr marL="0" marR="0" algn="ctr">
                        <a:lnSpc>
                          <a:spcPct val="107000"/>
                        </a:lnSpc>
                        <a:spcAft>
                          <a:spcPts val="800"/>
                        </a:spcAft>
                        <a:buNone/>
                      </a:pPr>
                      <a:r>
                        <a:rPr lang="en-US" sz="2800" baseline="0" dirty="0">
                          <a:effectLst/>
                          <a:latin typeface="Calibri" panose="020F0502020204030204" pitchFamily="34" charset="0"/>
                          <a:ea typeface="Calibri" panose="020F0502020204030204" pitchFamily="34" charset="0"/>
                          <a:cs typeface="Times New Roman" panose="02020603050405020304" pitchFamily="18" charset="0"/>
                        </a:rPr>
                        <a:t>Third</a:t>
                      </a:r>
                    </a:p>
                  </a:txBody>
                  <a:tcPr marL="59852" marR="59852" marT="0" marB="0"/>
                </a:tc>
                <a:tc>
                  <a:txBody>
                    <a:bodyPr/>
                    <a:lstStyle/>
                    <a:p>
                      <a:pPr marL="0" marR="0" algn="ctr">
                        <a:lnSpc>
                          <a:spcPct val="107000"/>
                        </a:lnSpc>
                        <a:spcAft>
                          <a:spcPts val="800"/>
                        </a:spcAft>
                        <a:buNone/>
                      </a:pPr>
                      <a:r>
                        <a:rPr lang="en-US" sz="2800" baseline="0" dirty="0">
                          <a:effectLst/>
                          <a:latin typeface="Calibri" panose="020F0502020204030204" pitchFamily="34" charset="0"/>
                          <a:ea typeface="Calibri" panose="020F0502020204030204" pitchFamily="34" charset="0"/>
                          <a:cs typeface="Times New Roman" panose="02020603050405020304" pitchFamily="18" charset="0"/>
                        </a:rPr>
                        <a:t>C</a:t>
                      </a:r>
                    </a:p>
                  </a:txBody>
                  <a:tcPr marL="59852" marR="59852" marT="0" marB="0"/>
                </a:tc>
                <a:tc>
                  <a:txBody>
                    <a:bodyPr/>
                    <a:lstStyle/>
                    <a:p>
                      <a:pPr marL="0" marR="0" algn="ctr">
                        <a:lnSpc>
                          <a:spcPct val="107000"/>
                        </a:lnSpc>
                        <a:spcAft>
                          <a:spcPts val="800"/>
                        </a:spcAft>
                        <a:buNone/>
                      </a:pPr>
                      <a:r>
                        <a:rPr lang="en-US" sz="2800" baseline="0" dirty="0">
                          <a:effectLst/>
                          <a:latin typeface="Calibri" panose="020F0502020204030204" pitchFamily="34" charset="0"/>
                          <a:ea typeface="Calibri" panose="020F0502020204030204" pitchFamily="34" charset="0"/>
                          <a:cs typeface="Times New Roman" panose="02020603050405020304" pitchFamily="18" charset="0"/>
                        </a:rPr>
                        <a:t>B</a:t>
                      </a:r>
                    </a:p>
                  </a:txBody>
                  <a:tcPr marL="59852" marR="59852" marT="0" marB="0"/>
                </a:tc>
                <a:tc>
                  <a:txBody>
                    <a:bodyPr/>
                    <a:lstStyle/>
                    <a:p>
                      <a:pPr marL="0" marR="0" algn="ctr">
                        <a:lnSpc>
                          <a:spcPct val="107000"/>
                        </a:lnSpc>
                        <a:spcAft>
                          <a:spcPts val="800"/>
                        </a:spcAft>
                        <a:buNone/>
                      </a:pPr>
                      <a:r>
                        <a:rPr lang="en-US" sz="2800" baseline="0" dirty="0">
                          <a:effectLst/>
                          <a:latin typeface="Calibri" panose="020F0502020204030204" pitchFamily="34" charset="0"/>
                          <a:ea typeface="Calibri" panose="020F0502020204030204" pitchFamily="34" charset="0"/>
                          <a:cs typeface="Times New Roman" panose="02020603050405020304" pitchFamily="18" charset="0"/>
                        </a:rPr>
                        <a:t>A</a:t>
                      </a:r>
                    </a:p>
                  </a:txBody>
                  <a:tcPr marL="59852" marR="59852" marT="0" marB="0"/>
                </a:tc>
                <a:extLst>
                  <a:ext uri="{0D108BD9-81ED-4DB2-BD59-A6C34878D82A}">
                    <a16:rowId xmlns:a16="http://schemas.microsoft.com/office/drawing/2014/main" val="2958122892"/>
                  </a:ext>
                </a:extLst>
              </a:tr>
            </a:tbl>
          </a:graphicData>
        </a:graphic>
      </p:graphicFrame>
      <p:sp>
        <p:nvSpPr>
          <p:cNvPr id="5" name="Content Placeholder 4">
            <a:extLst>
              <a:ext uri="{FF2B5EF4-FFF2-40B4-BE49-F238E27FC236}">
                <a16:creationId xmlns:a16="http://schemas.microsoft.com/office/drawing/2014/main" id="{0E3A3E01-EDE9-7484-0375-414BA92CD08D}"/>
              </a:ext>
            </a:extLst>
          </p:cNvPr>
          <p:cNvSpPr>
            <a:spLocks noGrp="1"/>
          </p:cNvSpPr>
          <p:nvPr>
            <p:ph sz="half" idx="2"/>
          </p:nvPr>
        </p:nvSpPr>
        <p:spPr>
          <a:xfrm>
            <a:off x="6172205" y="1508760"/>
            <a:ext cx="5468112" cy="5472875"/>
          </a:xfrm>
        </p:spPr>
        <p:txBody>
          <a:bodyPr>
            <a:normAutofit/>
          </a:bodyPr>
          <a:lstStyle/>
          <a:p>
            <a:r>
              <a:rPr lang="en-US" dirty="0"/>
              <a:t>Majority decision rules do not always yield such clear-cut results. Again, imagine a series of paired elections to determine the most preferred level. In an election between </a:t>
            </a:r>
            <a:r>
              <a:rPr lang="en-US" dirty="0">
                <a:highlight>
                  <a:srgbClr val="FFFF00"/>
                </a:highlight>
              </a:rPr>
              <a:t>A and B</a:t>
            </a:r>
            <a:r>
              <a:rPr lang="en-US" dirty="0"/>
              <a:t>, A would win by a vote of 2 to 1. If an election were held between </a:t>
            </a:r>
            <a:r>
              <a:rPr lang="en-US" dirty="0">
                <a:highlight>
                  <a:srgbClr val="FFFF00"/>
                </a:highlight>
              </a:rPr>
              <a:t>B and C</a:t>
            </a:r>
            <a:r>
              <a:rPr lang="en-US" dirty="0"/>
              <a:t>, B would win by a vote of 2 to 1. Finally, in an election between </a:t>
            </a:r>
            <a:r>
              <a:rPr lang="en-US" dirty="0">
                <a:highlight>
                  <a:srgbClr val="FFFF00"/>
                </a:highlight>
              </a:rPr>
              <a:t>A and C</a:t>
            </a:r>
            <a:r>
              <a:rPr lang="en-US" dirty="0"/>
              <a:t>, C would win by the same margin. </a:t>
            </a:r>
          </a:p>
        </p:txBody>
      </p:sp>
    </p:spTree>
    <p:extLst>
      <p:ext uri="{BB962C8B-B14F-4D97-AF65-F5344CB8AC3E}">
        <p14:creationId xmlns:p14="http://schemas.microsoft.com/office/powerpoint/2010/main" val="38320246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D0EA462-674D-FBFE-7CD6-A22DF2231879}"/>
              </a:ext>
            </a:extLst>
          </p:cNvPr>
          <p:cNvSpPr>
            <a:spLocks noGrp="1"/>
          </p:cNvSpPr>
          <p:nvPr>
            <p:ph type="title"/>
          </p:nvPr>
        </p:nvSpPr>
        <p:spPr>
          <a:xfrm>
            <a:off x="838200" y="365125"/>
            <a:ext cx="10515600" cy="951611"/>
          </a:xfrm>
        </p:spPr>
        <p:txBody>
          <a:bodyPr>
            <a:normAutofit/>
          </a:bodyPr>
          <a:lstStyle/>
          <a:p>
            <a:r>
              <a:rPr lang="en-US" b="1" dirty="0"/>
              <a:t>Voting Paradox</a:t>
            </a:r>
            <a:endParaRPr lang="en-US" dirty="0"/>
          </a:p>
        </p:txBody>
      </p:sp>
      <p:sp>
        <p:nvSpPr>
          <p:cNvPr id="6" name="Content Placeholder 5">
            <a:extLst>
              <a:ext uri="{FF2B5EF4-FFF2-40B4-BE49-F238E27FC236}">
                <a16:creationId xmlns:a16="http://schemas.microsoft.com/office/drawing/2014/main" id="{9C1180F7-3383-8B0B-6F49-78D3ADF40508}"/>
              </a:ext>
            </a:extLst>
          </p:cNvPr>
          <p:cNvSpPr>
            <a:spLocks noGrp="1"/>
          </p:cNvSpPr>
          <p:nvPr>
            <p:ph idx="1"/>
          </p:nvPr>
        </p:nvSpPr>
        <p:spPr>
          <a:xfrm>
            <a:off x="838200" y="1316736"/>
            <a:ext cx="10515600" cy="4860227"/>
          </a:xfrm>
        </p:spPr>
        <p:txBody>
          <a:bodyPr>
            <a:normAutofit fontScale="92500" lnSpcReduction="10000"/>
          </a:bodyPr>
          <a:lstStyle/>
          <a:p>
            <a:r>
              <a:rPr lang="en-US" dirty="0"/>
              <a:t>This result is confusing. The first election suggests that A is preferred to B; the second that B is preferred to C. Conventional notions of consistency suggest that A should therefore be preferred to C. But in the third election, just the opposite occurs. Although each individual voter’s preferences are consistent, the community’s are not. This phenomenon is referred to as the </a:t>
            </a:r>
            <a:r>
              <a:rPr lang="en-US" dirty="0">
                <a:highlight>
                  <a:srgbClr val="FFFF00"/>
                </a:highlight>
              </a:rPr>
              <a:t>voting paradox </a:t>
            </a:r>
            <a:r>
              <a:rPr lang="en-US" dirty="0"/>
              <a:t>.</a:t>
            </a:r>
          </a:p>
          <a:p>
            <a:r>
              <a:rPr lang="en-US" dirty="0"/>
              <a:t>Moreover, with the preferences in Table 2, the ultimate outcome depends crucially on the </a:t>
            </a:r>
            <a:r>
              <a:rPr lang="en-US" dirty="0">
                <a:highlight>
                  <a:srgbClr val="FFFF00"/>
                </a:highlight>
              </a:rPr>
              <a:t>order</a:t>
            </a:r>
            <a:r>
              <a:rPr lang="en-US" dirty="0"/>
              <a:t> in which the votes are taken. If the first election is between propositions </a:t>
            </a:r>
            <a:r>
              <a:rPr lang="en-US" dirty="0">
                <a:highlight>
                  <a:srgbClr val="FFFF00"/>
                </a:highlight>
              </a:rPr>
              <a:t>A and B </a:t>
            </a:r>
            <a:r>
              <a:rPr lang="en-US" dirty="0"/>
              <a:t>and the winner (A) runs against C, then C is the ultimate choice. On the other hand, if the first election is </a:t>
            </a:r>
            <a:r>
              <a:rPr lang="en-US" dirty="0">
                <a:highlight>
                  <a:srgbClr val="FFFF00"/>
                </a:highlight>
              </a:rPr>
              <a:t>B versus C</a:t>
            </a:r>
            <a:r>
              <a:rPr lang="en-US" dirty="0"/>
              <a:t>, and the winner (B) runs against A, then A is chosen. Under such circumstances, the ability to control the order of voting—the </a:t>
            </a:r>
            <a:r>
              <a:rPr lang="en-US" dirty="0">
                <a:highlight>
                  <a:srgbClr val="FFFF00"/>
                </a:highlight>
              </a:rPr>
              <a:t>agenda</a:t>
            </a:r>
            <a:r>
              <a:rPr lang="en-US" dirty="0"/>
              <a:t>—confers great power. </a:t>
            </a:r>
            <a:r>
              <a:rPr lang="en-US" b="1" i="1" dirty="0"/>
              <a:t>Agenda manipulation is the process of organizing the order of votes to ensure a favorable outcome.</a:t>
            </a:r>
          </a:p>
        </p:txBody>
      </p:sp>
    </p:spTree>
    <p:extLst>
      <p:ext uri="{BB962C8B-B14F-4D97-AF65-F5344CB8AC3E}">
        <p14:creationId xmlns:p14="http://schemas.microsoft.com/office/powerpoint/2010/main" val="6563875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BE07C-AC7E-69B7-22BC-5C9D54D96F75}"/>
              </a:ext>
            </a:extLst>
          </p:cNvPr>
          <p:cNvSpPr>
            <a:spLocks noGrp="1"/>
          </p:cNvSpPr>
          <p:nvPr>
            <p:ph type="title"/>
          </p:nvPr>
        </p:nvSpPr>
        <p:spPr>
          <a:xfrm>
            <a:off x="838200" y="365125"/>
            <a:ext cx="10515600" cy="1033907"/>
          </a:xfrm>
        </p:spPr>
        <p:txBody>
          <a:bodyPr/>
          <a:lstStyle/>
          <a:p>
            <a:r>
              <a:rPr lang="en-US" b="1" dirty="0"/>
              <a:t>The Cyclical Majority Phenomenon</a:t>
            </a:r>
          </a:p>
        </p:txBody>
      </p:sp>
      <p:sp>
        <p:nvSpPr>
          <p:cNvPr id="3" name="Content Placeholder 2">
            <a:extLst>
              <a:ext uri="{FF2B5EF4-FFF2-40B4-BE49-F238E27FC236}">
                <a16:creationId xmlns:a16="http://schemas.microsoft.com/office/drawing/2014/main" id="{1342C83D-13E3-FA6D-B16B-47E41BFCA4A2}"/>
              </a:ext>
            </a:extLst>
          </p:cNvPr>
          <p:cNvSpPr>
            <a:spLocks noGrp="1"/>
          </p:cNvSpPr>
          <p:nvPr>
            <p:ph idx="1"/>
          </p:nvPr>
        </p:nvSpPr>
        <p:spPr/>
        <p:txBody>
          <a:bodyPr>
            <a:normAutofit/>
          </a:bodyPr>
          <a:lstStyle/>
          <a:p>
            <a:r>
              <a:rPr lang="en-US" sz="3200" dirty="0"/>
              <a:t>A related problem is that paired voting can go on forever without reaching a decision. After the election between </a:t>
            </a:r>
            <a:r>
              <a:rPr lang="en-US" sz="3200" dirty="0">
                <a:highlight>
                  <a:srgbClr val="FFFF00"/>
                </a:highlight>
              </a:rPr>
              <a:t>A and B</a:t>
            </a:r>
            <a:r>
              <a:rPr lang="en-US" sz="3200" dirty="0"/>
              <a:t>, A wins. If </a:t>
            </a:r>
            <a:r>
              <a:rPr lang="en-US" sz="3200" dirty="0">
                <a:highlight>
                  <a:srgbClr val="FFFF00"/>
                </a:highlight>
              </a:rPr>
              <a:t>C challenges A</a:t>
            </a:r>
            <a:r>
              <a:rPr lang="en-US" sz="3200" dirty="0"/>
              <a:t>, then C wins. If </a:t>
            </a:r>
            <a:r>
              <a:rPr lang="en-US" sz="3200" b="1" dirty="0"/>
              <a:t>B then challenges C</a:t>
            </a:r>
            <a:r>
              <a:rPr lang="en-US" sz="3200" dirty="0"/>
              <a:t>, B wins. The process can continue indefinitely, a phenomenon called cycling . A good historical example of cycling concerns the 17th Amendment to the US Constitution, which provides for direct election of US senators. Adoption of the amendment was delayed for many years due to voting cycling.</a:t>
            </a:r>
          </a:p>
        </p:txBody>
      </p:sp>
    </p:spTree>
    <p:extLst>
      <p:ext uri="{BB962C8B-B14F-4D97-AF65-F5344CB8AC3E}">
        <p14:creationId xmlns:p14="http://schemas.microsoft.com/office/powerpoint/2010/main" val="31539421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705FB-71AC-30B7-0E37-0D8BEEA5E62A}"/>
              </a:ext>
            </a:extLst>
          </p:cNvPr>
          <p:cNvSpPr>
            <a:spLocks noGrp="1"/>
          </p:cNvSpPr>
          <p:nvPr>
            <p:ph type="title"/>
          </p:nvPr>
        </p:nvSpPr>
        <p:spPr>
          <a:xfrm>
            <a:off x="497305" y="365125"/>
            <a:ext cx="11213431" cy="1776412"/>
          </a:xfrm>
        </p:spPr>
        <p:txBody>
          <a:bodyPr>
            <a:noAutofit/>
          </a:bodyPr>
          <a:lstStyle/>
          <a:p>
            <a:r>
              <a:rPr lang="en-US" sz="2800" b="1" dirty="0"/>
              <a:t>Consider a society with three people (John, Eleanor, and Abigail) who use majority rule to decide how much money to spend on a public park. There are three options for spending on a public park: H (high), M (medium), and L (low). These individuals rank the three options in the following way:</a:t>
            </a:r>
          </a:p>
        </p:txBody>
      </p:sp>
      <p:graphicFrame>
        <p:nvGraphicFramePr>
          <p:cNvPr id="5" name="Content Placeholder 4">
            <a:extLst>
              <a:ext uri="{FF2B5EF4-FFF2-40B4-BE49-F238E27FC236}">
                <a16:creationId xmlns:a16="http://schemas.microsoft.com/office/drawing/2014/main" id="{BDDAF978-DC66-1A64-257F-70AB2E03101C}"/>
              </a:ext>
            </a:extLst>
          </p:cNvPr>
          <p:cNvGraphicFramePr>
            <a:graphicFrameLocks noGrp="1"/>
          </p:cNvGraphicFramePr>
          <p:nvPr>
            <p:ph sz="half" idx="1"/>
            <p:extLst>
              <p:ext uri="{D42A27DB-BD31-4B8C-83A1-F6EECF244321}">
                <p14:modId xmlns:p14="http://schemas.microsoft.com/office/powerpoint/2010/main" val="2397380384"/>
              </p:ext>
            </p:extLst>
          </p:nvPr>
        </p:nvGraphicFramePr>
        <p:xfrm>
          <a:off x="652752" y="2469983"/>
          <a:ext cx="5364000" cy="2618040"/>
        </p:xfrm>
        <a:graphic>
          <a:graphicData uri="http://schemas.openxmlformats.org/drawingml/2006/table">
            <a:tbl>
              <a:tblPr firstRow="1" firstCol="1" bandRow="1">
                <a:tableStyleId>{5C22544A-7EE6-4342-B048-85BDC9FD1C3A}</a:tableStyleId>
              </a:tblPr>
              <a:tblGrid>
                <a:gridCol w="1340714">
                  <a:extLst>
                    <a:ext uri="{9D8B030D-6E8A-4147-A177-3AD203B41FA5}">
                      <a16:colId xmlns:a16="http://schemas.microsoft.com/office/drawing/2014/main" val="1805882963"/>
                    </a:ext>
                  </a:extLst>
                </a:gridCol>
                <a:gridCol w="1340714">
                  <a:extLst>
                    <a:ext uri="{9D8B030D-6E8A-4147-A177-3AD203B41FA5}">
                      <a16:colId xmlns:a16="http://schemas.microsoft.com/office/drawing/2014/main" val="1513860113"/>
                    </a:ext>
                  </a:extLst>
                </a:gridCol>
                <a:gridCol w="1341286">
                  <a:extLst>
                    <a:ext uri="{9D8B030D-6E8A-4147-A177-3AD203B41FA5}">
                      <a16:colId xmlns:a16="http://schemas.microsoft.com/office/drawing/2014/main" val="299224053"/>
                    </a:ext>
                  </a:extLst>
                </a:gridCol>
                <a:gridCol w="1341286">
                  <a:extLst>
                    <a:ext uri="{9D8B030D-6E8A-4147-A177-3AD203B41FA5}">
                      <a16:colId xmlns:a16="http://schemas.microsoft.com/office/drawing/2014/main" val="1500360126"/>
                    </a:ext>
                  </a:extLst>
                </a:gridCol>
              </a:tblGrid>
              <a:tr h="654510">
                <a:tc>
                  <a:txBody>
                    <a:bodyPr/>
                    <a:lstStyle/>
                    <a:p>
                      <a:pPr marL="0" marR="0" algn="ctr">
                        <a:lnSpc>
                          <a:spcPct val="107000"/>
                        </a:lnSpc>
                        <a:spcAft>
                          <a:spcPts val="800"/>
                        </a:spcAft>
                        <a:buNone/>
                      </a:pPr>
                      <a:r>
                        <a:rPr lang="en-US" sz="2800">
                          <a:effectLst/>
                        </a:rPr>
                        <a:t>Rank</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59852" marR="59852" marT="0" marB="0"/>
                </a:tc>
                <a:tc>
                  <a:txBody>
                    <a:bodyPr/>
                    <a:lstStyle/>
                    <a:p>
                      <a:pPr marL="0" marR="0" algn="ctr">
                        <a:lnSpc>
                          <a:spcPct val="107000"/>
                        </a:lnSpc>
                        <a:spcAft>
                          <a:spcPts val="800"/>
                        </a:spcAft>
                        <a:buNone/>
                      </a:pPr>
                      <a:r>
                        <a:rPr lang="en-US" sz="2800" dirty="0">
                          <a:effectLst/>
                        </a:rPr>
                        <a:t>John</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59852" marR="59852" marT="0" marB="0"/>
                </a:tc>
                <a:tc>
                  <a:txBody>
                    <a:bodyPr/>
                    <a:lstStyle/>
                    <a:p>
                      <a:pPr marL="0" marR="0" algn="ctr">
                        <a:lnSpc>
                          <a:spcPct val="107000"/>
                        </a:lnSpc>
                        <a:spcAft>
                          <a:spcPts val="800"/>
                        </a:spcAft>
                        <a:buNone/>
                      </a:pPr>
                      <a:r>
                        <a:rPr lang="en-US" sz="2800">
                          <a:effectLst/>
                        </a:rPr>
                        <a:t>Eleanor</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59852" marR="59852" marT="0" marB="0"/>
                </a:tc>
                <a:tc>
                  <a:txBody>
                    <a:bodyPr/>
                    <a:lstStyle/>
                    <a:p>
                      <a:pPr marL="0" marR="0" algn="ctr">
                        <a:lnSpc>
                          <a:spcPct val="107000"/>
                        </a:lnSpc>
                        <a:spcAft>
                          <a:spcPts val="800"/>
                        </a:spcAft>
                        <a:buNone/>
                      </a:pPr>
                      <a:r>
                        <a:rPr lang="en-US" sz="2800">
                          <a:effectLst/>
                        </a:rPr>
                        <a:t>Abigail</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59852" marR="59852" marT="0" marB="0"/>
                </a:tc>
                <a:extLst>
                  <a:ext uri="{0D108BD9-81ED-4DB2-BD59-A6C34878D82A}">
                    <a16:rowId xmlns:a16="http://schemas.microsoft.com/office/drawing/2014/main" val="3782846414"/>
                  </a:ext>
                </a:extLst>
              </a:tr>
              <a:tr h="654510">
                <a:tc>
                  <a:txBody>
                    <a:bodyPr/>
                    <a:lstStyle/>
                    <a:p>
                      <a:pPr marL="0" marR="0" algn="ctr">
                        <a:lnSpc>
                          <a:spcPct val="107000"/>
                        </a:lnSpc>
                        <a:spcAft>
                          <a:spcPts val="800"/>
                        </a:spcAft>
                        <a:buNone/>
                      </a:pPr>
                      <a:r>
                        <a:rPr lang="en-US" sz="2800">
                          <a:effectLst/>
                        </a:rPr>
                        <a:t>1</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59852" marR="59852" marT="0" marB="0"/>
                </a:tc>
                <a:tc>
                  <a:txBody>
                    <a:bodyPr/>
                    <a:lstStyle/>
                    <a:p>
                      <a:pPr marL="0" marR="0" algn="ctr">
                        <a:lnSpc>
                          <a:spcPct val="107000"/>
                        </a:lnSpc>
                        <a:spcAft>
                          <a:spcPts val="800"/>
                        </a:spcAft>
                        <a:buNone/>
                      </a:pPr>
                      <a:r>
                        <a:rPr lang="en-US" sz="2800" dirty="0">
                          <a:effectLst/>
                        </a:rPr>
                        <a:t>M</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59852" marR="59852" marT="0" marB="0"/>
                </a:tc>
                <a:tc>
                  <a:txBody>
                    <a:bodyPr/>
                    <a:lstStyle/>
                    <a:p>
                      <a:pPr marL="0" marR="0" algn="ctr">
                        <a:lnSpc>
                          <a:spcPct val="107000"/>
                        </a:lnSpc>
                        <a:spcAft>
                          <a:spcPts val="800"/>
                        </a:spcAft>
                        <a:buNone/>
                      </a:pPr>
                      <a:r>
                        <a:rPr lang="en-US" sz="2800">
                          <a:effectLst/>
                        </a:rPr>
                        <a:t>L</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59852" marR="59852" marT="0" marB="0"/>
                </a:tc>
                <a:tc>
                  <a:txBody>
                    <a:bodyPr/>
                    <a:lstStyle/>
                    <a:p>
                      <a:pPr marL="0" marR="0" algn="ctr">
                        <a:lnSpc>
                          <a:spcPct val="107000"/>
                        </a:lnSpc>
                        <a:spcAft>
                          <a:spcPts val="800"/>
                        </a:spcAft>
                        <a:buNone/>
                      </a:pPr>
                      <a:r>
                        <a:rPr lang="en-US" sz="2800">
                          <a:effectLst/>
                        </a:rPr>
                        <a:t>H</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59852" marR="59852" marT="0" marB="0"/>
                </a:tc>
                <a:extLst>
                  <a:ext uri="{0D108BD9-81ED-4DB2-BD59-A6C34878D82A}">
                    <a16:rowId xmlns:a16="http://schemas.microsoft.com/office/drawing/2014/main" val="1825314789"/>
                  </a:ext>
                </a:extLst>
              </a:tr>
              <a:tr h="654510">
                <a:tc>
                  <a:txBody>
                    <a:bodyPr/>
                    <a:lstStyle/>
                    <a:p>
                      <a:pPr marL="0" marR="0" algn="ctr">
                        <a:lnSpc>
                          <a:spcPct val="107000"/>
                        </a:lnSpc>
                        <a:spcAft>
                          <a:spcPts val="800"/>
                        </a:spcAft>
                        <a:buNone/>
                      </a:pPr>
                      <a:r>
                        <a:rPr lang="en-US" sz="2800">
                          <a:effectLst/>
                        </a:rPr>
                        <a:t>2</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59852" marR="59852" marT="0" marB="0"/>
                </a:tc>
                <a:tc>
                  <a:txBody>
                    <a:bodyPr/>
                    <a:lstStyle/>
                    <a:p>
                      <a:pPr marL="0" marR="0" algn="ctr">
                        <a:lnSpc>
                          <a:spcPct val="107000"/>
                        </a:lnSpc>
                        <a:spcAft>
                          <a:spcPts val="800"/>
                        </a:spcAft>
                        <a:buNone/>
                      </a:pPr>
                      <a:r>
                        <a:rPr lang="en-US" sz="2800" dirty="0">
                          <a:effectLst/>
                        </a:rPr>
                        <a:t>L</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59852" marR="59852" marT="0" marB="0"/>
                </a:tc>
                <a:tc>
                  <a:txBody>
                    <a:bodyPr/>
                    <a:lstStyle/>
                    <a:p>
                      <a:pPr marL="0" marR="0" algn="ctr">
                        <a:lnSpc>
                          <a:spcPct val="107000"/>
                        </a:lnSpc>
                        <a:spcAft>
                          <a:spcPts val="800"/>
                        </a:spcAft>
                        <a:buNone/>
                      </a:pPr>
                      <a:r>
                        <a:rPr lang="en-US" sz="2800" dirty="0">
                          <a:effectLst/>
                        </a:rPr>
                        <a:t>M</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59852" marR="59852" marT="0" marB="0"/>
                </a:tc>
                <a:tc>
                  <a:txBody>
                    <a:bodyPr/>
                    <a:lstStyle/>
                    <a:p>
                      <a:pPr marL="0" marR="0" algn="ctr">
                        <a:lnSpc>
                          <a:spcPct val="107000"/>
                        </a:lnSpc>
                        <a:spcAft>
                          <a:spcPts val="800"/>
                        </a:spcAft>
                        <a:buNone/>
                      </a:pPr>
                      <a:r>
                        <a:rPr lang="en-US" sz="2800">
                          <a:effectLst/>
                        </a:rPr>
                        <a:t>M</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59852" marR="59852" marT="0" marB="0"/>
                </a:tc>
                <a:extLst>
                  <a:ext uri="{0D108BD9-81ED-4DB2-BD59-A6C34878D82A}">
                    <a16:rowId xmlns:a16="http://schemas.microsoft.com/office/drawing/2014/main" val="3971730257"/>
                  </a:ext>
                </a:extLst>
              </a:tr>
              <a:tr h="654510">
                <a:tc>
                  <a:txBody>
                    <a:bodyPr/>
                    <a:lstStyle/>
                    <a:p>
                      <a:pPr marL="0" marR="0" algn="ctr">
                        <a:lnSpc>
                          <a:spcPct val="107000"/>
                        </a:lnSpc>
                        <a:spcAft>
                          <a:spcPts val="800"/>
                        </a:spcAft>
                        <a:buNone/>
                      </a:pPr>
                      <a:r>
                        <a:rPr lang="en-US" sz="2800">
                          <a:effectLst/>
                        </a:rPr>
                        <a:t>3</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59852" marR="59852" marT="0" marB="0"/>
                </a:tc>
                <a:tc>
                  <a:txBody>
                    <a:bodyPr/>
                    <a:lstStyle/>
                    <a:p>
                      <a:pPr marL="0" marR="0" algn="ctr">
                        <a:lnSpc>
                          <a:spcPct val="107000"/>
                        </a:lnSpc>
                        <a:spcAft>
                          <a:spcPts val="800"/>
                        </a:spcAft>
                        <a:buNone/>
                      </a:pPr>
                      <a:r>
                        <a:rPr lang="en-US" sz="2800">
                          <a:effectLst/>
                        </a:rPr>
                        <a:t>H</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59852" marR="59852" marT="0" marB="0"/>
                </a:tc>
                <a:tc>
                  <a:txBody>
                    <a:bodyPr/>
                    <a:lstStyle/>
                    <a:p>
                      <a:pPr marL="0" marR="0" algn="ctr">
                        <a:lnSpc>
                          <a:spcPct val="107000"/>
                        </a:lnSpc>
                        <a:spcAft>
                          <a:spcPts val="800"/>
                        </a:spcAft>
                        <a:buNone/>
                      </a:pPr>
                      <a:r>
                        <a:rPr lang="en-US" sz="2800">
                          <a:effectLst/>
                        </a:rPr>
                        <a:t>H</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59852" marR="59852" marT="0" marB="0"/>
                </a:tc>
                <a:tc>
                  <a:txBody>
                    <a:bodyPr/>
                    <a:lstStyle/>
                    <a:p>
                      <a:pPr marL="0" marR="0" algn="ctr">
                        <a:lnSpc>
                          <a:spcPct val="107000"/>
                        </a:lnSpc>
                        <a:spcAft>
                          <a:spcPts val="800"/>
                        </a:spcAft>
                        <a:buNone/>
                      </a:pPr>
                      <a:r>
                        <a:rPr lang="en-US" sz="2800" dirty="0">
                          <a:effectLst/>
                        </a:rPr>
                        <a:t>L</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59852" marR="59852" marT="0" marB="0"/>
                </a:tc>
                <a:extLst>
                  <a:ext uri="{0D108BD9-81ED-4DB2-BD59-A6C34878D82A}">
                    <a16:rowId xmlns:a16="http://schemas.microsoft.com/office/drawing/2014/main" val="3420891357"/>
                  </a:ext>
                </a:extLst>
              </a:tr>
            </a:tbl>
          </a:graphicData>
        </a:graphic>
      </p:graphicFrame>
      <p:sp>
        <p:nvSpPr>
          <p:cNvPr id="4" name="Content Placeholder 3">
            <a:extLst>
              <a:ext uri="{FF2B5EF4-FFF2-40B4-BE49-F238E27FC236}">
                <a16:creationId xmlns:a16="http://schemas.microsoft.com/office/drawing/2014/main" id="{D26EE167-C767-540A-AD32-17D431A34C4B}"/>
              </a:ext>
            </a:extLst>
          </p:cNvPr>
          <p:cNvSpPr>
            <a:spLocks noGrp="1"/>
          </p:cNvSpPr>
          <p:nvPr>
            <p:ph sz="half" idx="2"/>
          </p:nvPr>
        </p:nvSpPr>
        <p:spPr>
          <a:xfrm>
            <a:off x="6172199" y="2141537"/>
            <a:ext cx="5522495" cy="4351338"/>
          </a:xfrm>
        </p:spPr>
        <p:txBody>
          <a:bodyPr>
            <a:normAutofit/>
          </a:bodyPr>
          <a:lstStyle/>
          <a:p>
            <a:pPr marL="0" indent="0">
              <a:buNone/>
            </a:pPr>
            <a:r>
              <a:rPr lang="en-US" dirty="0"/>
              <a:t>a) Consider all possible pairwise elections: M versus H, H versus L, and L versus M. What is the outcome of each election? Does it appear, in this case, that majority rule would lead to a stable outcome on spending on the public park? If so, what is that choice? Would giving one person the ability to set the agenda affect the outcome? Explain.</a:t>
            </a:r>
          </a:p>
        </p:txBody>
      </p:sp>
    </p:spTree>
    <p:extLst>
      <p:ext uri="{BB962C8B-B14F-4D97-AF65-F5344CB8AC3E}">
        <p14:creationId xmlns:p14="http://schemas.microsoft.com/office/powerpoint/2010/main" val="6460686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A996D77-7CD4-C6E4-C8E9-835734C0F3DC}"/>
              </a:ext>
            </a:extLst>
          </p:cNvPr>
          <p:cNvSpPr>
            <a:spLocks noGrp="1"/>
          </p:cNvSpPr>
          <p:nvPr>
            <p:ph type="title"/>
          </p:nvPr>
        </p:nvSpPr>
        <p:spPr>
          <a:xfrm>
            <a:off x="329756" y="365125"/>
            <a:ext cx="11612308" cy="1325563"/>
          </a:xfrm>
        </p:spPr>
        <p:txBody>
          <a:bodyPr>
            <a:normAutofit/>
          </a:bodyPr>
          <a:lstStyle/>
          <a:p>
            <a:pPr lvl="0"/>
            <a:r>
              <a:rPr lang="en-US" sz="4000" b="1" dirty="0"/>
              <a:t>John: M &gt; L &gt; H  Eleanor: L &gt; M &gt; H  Abigail: H &gt; M &gt; L </a:t>
            </a:r>
          </a:p>
        </p:txBody>
      </p:sp>
      <p:graphicFrame>
        <p:nvGraphicFramePr>
          <p:cNvPr id="10" name="Content Placeholder 9">
            <a:extLst>
              <a:ext uri="{FF2B5EF4-FFF2-40B4-BE49-F238E27FC236}">
                <a16:creationId xmlns:a16="http://schemas.microsoft.com/office/drawing/2014/main" id="{3E951CB0-210A-3652-FF68-E8A5DB4AE794}"/>
              </a:ext>
            </a:extLst>
          </p:cNvPr>
          <p:cNvGraphicFramePr>
            <a:graphicFrameLocks noGrp="1"/>
          </p:cNvGraphicFramePr>
          <p:nvPr>
            <p:ph sz="half" idx="2"/>
            <p:extLst>
              <p:ext uri="{D42A27DB-BD31-4B8C-83A1-F6EECF244321}">
                <p14:modId xmlns:p14="http://schemas.microsoft.com/office/powerpoint/2010/main" val="2155787031"/>
              </p:ext>
            </p:extLst>
          </p:nvPr>
        </p:nvGraphicFramePr>
        <p:xfrm>
          <a:off x="249937" y="1690688"/>
          <a:ext cx="6387930" cy="4116159"/>
        </p:xfrm>
        <a:graphic>
          <a:graphicData uri="http://schemas.openxmlformats.org/drawingml/2006/table">
            <a:tbl>
              <a:tblPr firstRow="1" firstCol="1" bandRow="1">
                <a:tableStyleId>{5C22544A-7EE6-4342-B048-85BDC9FD1C3A}</a:tableStyleId>
              </a:tblPr>
              <a:tblGrid>
                <a:gridCol w="1277136">
                  <a:extLst>
                    <a:ext uri="{9D8B030D-6E8A-4147-A177-3AD203B41FA5}">
                      <a16:colId xmlns:a16="http://schemas.microsoft.com/office/drawing/2014/main" val="3199315427"/>
                    </a:ext>
                  </a:extLst>
                </a:gridCol>
                <a:gridCol w="1772581">
                  <a:extLst>
                    <a:ext uri="{9D8B030D-6E8A-4147-A177-3AD203B41FA5}">
                      <a16:colId xmlns:a16="http://schemas.microsoft.com/office/drawing/2014/main" val="3684228801"/>
                    </a:ext>
                  </a:extLst>
                </a:gridCol>
                <a:gridCol w="1611013">
                  <a:extLst>
                    <a:ext uri="{9D8B030D-6E8A-4147-A177-3AD203B41FA5}">
                      <a16:colId xmlns:a16="http://schemas.microsoft.com/office/drawing/2014/main" val="326831677"/>
                    </a:ext>
                  </a:extLst>
                </a:gridCol>
                <a:gridCol w="1727200">
                  <a:extLst>
                    <a:ext uri="{9D8B030D-6E8A-4147-A177-3AD203B41FA5}">
                      <a16:colId xmlns:a16="http://schemas.microsoft.com/office/drawing/2014/main" val="1288046101"/>
                    </a:ext>
                  </a:extLst>
                </a:gridCol>
              </a:tblGrid>
              <a:tr h="591935">
                <a:tc>
                  <a:txBody>
                    <a:bodyPr/>
                    <a:lstStyle/>
                    <a:p>
                      <a:pPr marL="0" marR="0" algn="ctr">
                        <a:lnSpc>
                          <a:spcPct val="107000"/>
                        </a:lnSpc>
                        <a:spcAft>
                          <a:spcPts val="800"/>
                        </a:spcAft>
                        <a:buNone/>
                      </a:pP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59545" marR="59545" marT="0" marB="0"/>
                </a:tc>
                <a:tc>
                  <a:txBody>
                    <a:bodyPr/>
                    <a:lstStyle/>
                    <a:p>
                      <a:pPr marL="0" marR="0" algn="ctr">
                        <a:lnSpc>
                          <a:spcPct val="107000"/>
                        </a:lnSpc>
                        <a:spcAft>
                          <a:spcPts val="800"/>
                        </a:spcAft>
                        <a:buNone/>
                      </a:pPr>
                      <a:r>
                        <a:rPr lang="en-US" sz="2800" dirty="0">
                          <a:effectLst/>
                        </a:rPr>
                        <a:t>1. H vs M</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59545" marR="59545" marT="0" marB="0"/>
                </a:tc>
                <a:tc>
                  <a:txBody>
                    <a:bodyPr/>
                    <a:lstStyle/>
                    <a:p>
                      <a:pPr marL="0" marR="0" algn="ctr">
                        <a:buNone/>
                      </a:pPr>
                      <a:r>
                        <a:rPr lang="en-US" sz="2800" dirty="0">
                          <a:effectLst/>
                        </a:rPr>
                        <a:t>2. H vs L</a:t>
                      </a:r>
                      <a:endParaRPr lang="en-US" sz="2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9545" marR="59545" marT="0" marB="0"/>
                </a:tc>
                <a:tc>
                  <a:txBody>
                    <a:bodyPr/>
                    <a:lstStyle/>
                    <a:p>
                      <a:pPr marL="0" marR="0" algn="ctr">
                        <a:buNone/>
                      </a:pPr>
                      <a:r>
                        <a:rPr lang="en-US" sz="2800" dirty="0">
                          <a:effectLst/>
                        </a:rPr>
                        <a:t>3. L vs M</a:t>
                      </a:r>
                      <a:endParaRPr lang="en-US" sz="2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9545" marR="59545" marT="0" marB="0"/>
                </a:tc>
                <a:extLst>
                  <a:ext uri="{0D108BD9-81ED-4DB2-BD59-A6C34878D82A}">
                    <a16:rowId xmlns:a16="http://schemas.microsoft.com/office/drawing/2014/main" val="31372893"/>
                  </a:ext>
                </a:extLst>
              </a:tr>
              <a:tr h="749719">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US" sz="2400" dirty="0">
                          <a:effectLst/>
                        </a:rPr>
                        <a:t>John</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Aft>
                          <a:spcPts val="800"/>
                        </a:spcAft>
                        <a:buNone/>
                      </a:pP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59545" marR="59545" marT="0" marB="0" anchor="ctr"/>
                </a:tc>
                <a:tc>
                  <a:txBody>
                    <a:bodyPr/>
                    <a:lstStyle/>
                    <a:p>
                      <a:pPr marL="0" marR="0" algn="ctr">
                        <a:lnSpc>
                          <a:spcPct val="107000"/>
                        </a:lnSpc>
                        <a:spcAft>
                          <a:spcPts val="800"/>
                        </a:spcAft>
                        <a:buNone/>
                      </a:pPr>
                      <a:r>
                        <a:rPr lang="en-US" sz="2400" dirty="0">
                          <a:effectLst/>
                        </a:rPr>
                        <a:t>M &gt; H → M</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59545" marR="59545" marT="0" marB="0" anchor="ctr"/>
                </a:tc>
                <a:tc>
                  <a:txBody>
                    <a:bodyPr/>
                    <a:lstStyle/>
                    <a:p>
                      <a:pPr marL="0" marR="0" algn="ctr">
                        <a:lnSpc>
                          <a:spcPct val="107000"/>
                        </a:lnSpc>
                        <a:spcAft>
                          <a:spcPts val="800"/>
                        </a:spcAft>
                        <a:buNone/>
                      </a:pPr>
                      <a:r>
                        <a:rPr lang="en-US" sz="2400" dirty="0">
                          <a:effectLst/>
                        </a:rPr>
                        <a:t>L &gt; H → L</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59545" marR="59545" marT="0" marB="0" anchor="ctr"/>
                </a:tc>
                <a:tc>
                  <a:txBody>
                    <a:bodyPr/>
                    <a:lstStyle/>
                    <a:p>
                      <a:pPr marL="0" marR="0" algn="ctr">
                        <a:lnSpc>
                          <a:spcPct val="107000"/>
                        </a:lnSpc>
                        <a:spcAft>
                          <a:spcPts val="800"/>
                        </a:spcAft>
                        <a:buNone/>
                      </a:pPr>
                      <a:r>
                        <a:rPr lang="en-US" sz="2400" dirty="0">
                          <a:effectLst/>
                        </a:rPr>
                        <a:t>M &gt; L → M</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59545" marR="59545" marT="0" marB="0" anchor="ctr"/>
                </a:tc>
                <a:extLst>
                  <a:ext uri="{0D108BD9-81ED-4DB2-BD59-A6C34878D82A}">
                    <a16:rowId xmlns:a16="http://schemas.microsoft.com/office/drawing/2014/main" val="288410272"/>
                  </a:ext>
                </a:extLst>
              </a:tr>
              <a:tr h="749719">
                <a:tc>
                  <a:txBody>
                    <a:bodyPr/>
                    <a:lstStyle/>
                    <a:p>
                      <a:pPr marL="0" marR="0">
                        <a:lnSpc>
                          <a:spcPct val="107000"/>
                        </a:lnSpc>
                        <a:spcAft>
                          <a:spcPts val="800"/>
                        </a:spcAft>
                        <a:buNone/>
                      </a:pPr>
                      <a:r>
                        <a:rPr lang="en-US" sz="2400" b="1" dirty="0"/>
                        <a:t>Eleanor</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59545" marR="59545" marT="0" marB="0"/>
                </a:tc>
                <a:tc>
                  <a:txBody>
                    <a:bodyPr/>
                    <a:lstStyle/>
                    <a:p>
                      <a:pPr marL="0" marR="0" algn="ctr">
                        <a:lnSpc>
                          <a:spcPct val="107000"/>
                        </a:lnSpc>
                        <a:spcAft>
                          <a:spcPts val="800"/>
                        </a:spcAft>
                        <a:buNone/>
                      </a:pPr>
                      <a:r>
                        <a:rPr lang="en-US" sz="2400" dirty="0">
                          <a:effectLst/>
                        </a:rPr>
                        <a:t>M &gt; H → M</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59545" marR="59545" marT="0" marB="0"/>
                </a:tc>
                <a:tc>
                  <a:txBody>
                    <a:bodyPr/>
                    <a:lstStyle/>
                    <a:p>
                      <a:pPr marL="0" marR="0" algn="ctr">
                        <a:lnSpc>
                          <a:spcPct val="107000"/>
                        </a:lnSpc>
                        <a:spcAft>
                          <a:spcPts val="800"/>
                        </a:spcAft>
                        <a:buNone/>
                      </a:pPr>
                      <a:r>
                        <a:rPr lang="en-US" sz="2400" dirty="0">
                          <a:effectLst/>
                        </a:rPr>
                        <a:t>L &gt; H → L</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59545" marR="59545" marT="0" marB="0"/>
                </a:tc>
                <a:tc>
                  <a:txBody>
                    <a:bodyPr/>
                    <a:lstStyle/>
                    <a:p>
                      <a:pPr marL="0" marR="0" algn="ctr">
                        <a:lnSpc>
                          <a:spcPct val="107000"/>
                        </a:lnSpc>
                        <a:spcAft>
                          <a:spcPts val="800"/>
                        </a:spcAft>
                        <a:buNone/>
                      </a:pPr>
                      <a:r>
                        <a:rPr lang="en-US" sz="2400" dirty="0">
                          <a:effectLst/>
                        </a:rPr>
                        <a:t>L &gt; M → L</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59545" marR="59545" marT="0" marB="0"/>
                </a:tc>
                <a:extLst>
                  <a:ext uri="{0D108BD9-81ED-4DB2-BD59-A6C34878D82A}">
                    <a16:rowId xmlns:a16="http://schemas.microsoft.com/office/drawing/2014/main" val="346597917"/>
                  </a:ext>
                </a:extLst>
              </a:tr>
              <a:tr h="749719">
                <a:tc>
                  <a:txBody>
                    <a:bodyPr/>
                    <a:lstStyle/>
                    <a:p>
                      <a:pPr marL="0" marR="0">
                        <a:lnSpc>
                          <a:spcPct val="107000"/>
                        </a:lnSpc>
                        <a:spcAft>
                          <a:spcPts val="800"/>
                        </a:spcAft>
                        <a:buNone/>
                      </a:pPr>
                      <a:r>
                        <a:rPr lang="en-US" sz="2400" b="1" dirty="0"/>
                        <a:t>Abigail</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59545" marR="59545" marT="0" marB="0"/>
                </a:tc>
                <a:tc>
                  <a:txBody>
                    <a:bodyPr/>
                    <a:lstStyle/>
                    <a:p>
                      <a:pPr marL="0" marR="0" algn="ctr">
                        <a:lnSpc>
                          <a:spcPct val="107000"/>
                        </a:lnSpc>
                        <a:spcAft>
                          <a:spcPts val="800"/>
                        </a:spcAft>
                        <a:buNone/>
                      </a:pPr>
                      <a:r>
                        <a:rPr lang="en-US" sz="2400" dirty="0">
                          <a:effectLst/>
                        </a:rPr>
                        <a:t>H &gt; M → H</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59545" marR="59545" marT="0" marB="0"/>
                </a:tc>
                <a:tc>
                  <a:txBody>
                    <a:bodyPr/>
                    <a:lstStyle/>
                    <a:p>
                      <a:pPr marL="0" marR="0" algn="ctr">
                        <a:lnSpc>
                          <a:spcPct val="107000"/>
                        </a:lnSpc>
                        <a:spcAft>
                          <a:spcPts val="800"/>
                        </a:spcAft>
                        <a:buNone/>
                      </a:pPr>
                      <a:r>
                        <a:rPr lang="en-US" sz="2400" dirty="0">
                          <a:effectLst/>
                        </a:rPr>
                        <a:t>H &gt; L → H</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59545" marR="59545" marT="0" marB="0"/>
                </a:tc>
                <a:tc>
                  <a:txBody>
                    <a:bodyPr/>
                    <a:lstStyle/>
                    <a:p>
                      <a:pPr marL="0" marR="0" algn="ctr">
                        <a:lnSpc>
                          <a:spcPct val="107000"/>
                        </a:lnSpc>
                        <a:spcAft>
                          <a:spcPts val="800"/>
                        </a:spcAft>
                        <a:buNone/>
                      </a:pPr>
                      <a:r>
                        <a:rPr lang="en-US" sz="2400" dirty="0">
                          <a:effectLst/>
                        </a:rPr>
                        <a:t>M &gt; L → M</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59545" marR="59545" marT="0" marB="0"/>
                </a:tc>
                <a:extLst>
                  <a:ext uri="{0D108BD9-81ED-4DB2-BD59-A6C34878D82A}">
                    <a16:rowId xmlns:a16="http://schemas.microsoft.com/office/drawing/2014/main" val="2429566475"/>
                  </a:ext>
                </a:extLst>
              </a:tr>
              <a:tr h="1157820">
                <a:tc>
                  <a:txBody>
                    <a:bodyPr/>
                    <a:lstStyle/>
                    <a:p>
                      <a:pPr marL="0" marR="0">
                        <a:buNone/>
                      </a:pPr>
                      <a:r>
                        <a:rPr lang="en-US" sz="2400" dirty="0">
                          <a:effectLst/>
                        </a:rPr>
                        <a:t>Result</a:t>
                      </a:r>
                      <a:endParaRPr lang="en-US"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9545" marR="59545" marT="0" marB="0"/>
                </a:tc>
                <a:tc>
                  <a:txBody>
                    <a:bodyPr/>
                    <a:lstStyle/>
                    <a:p>
                      <a:pPr marL="0" marR="0" algn="ctr">
                        <a:buNone/>
                      </a:pPr>
                      <a:r>
                        <a:rPr lang="en-US" sz="2400" dirty="0">
                          <a:effectLst/>
                          <a:highlight>
                            <a:srgbClr val="FFFF00"/>
                          </a:highlight>
                        </a:rPr>
                        <a:t>M wins </a:t>
                      </a:r>
                      <a:r>
                        <a:rPr lang="en-US" sz="2400" dirty="0">
                          <a:effectLst/>
                        </a:rPr>
                        <a:t>by 2 votes to 1.</a:t>
                      </a:r>
                      <a:endParaRPr lang="en-US"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9545" marR="59545" marT="0" marB="0"/>
                </a:tc>
                <a:tc>
                  <a:txBody>
                    <a:bodyPr/>
                    <a:lstStyle/>
                    <a:p>
                      <a:pPr marL="0" marR="0" algn="ctr">
                        <a:buNone/>
                      </a:pPr>
                      <a:r>
                        <a:rPr lang="en-US" sz="2400" dirty="0">
                          <a:effectLst/>
                        </a:rPr>
                        <a:t>L wins by 2 votes to 1.</a:t>
                      </a:r>
                      <a:endParaRPr lang="en-US"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9545" marR="59545" marT="0" marB="0"/>
                </a:tc>
                <a:tc>
                  <a:txBody>
                    <a:bodyPr/>
                    <a:lstStyle/>
                    <a:p>
                      <a:pPr marL="0" marR="0" algn="ctr">
                        <a:buNone/>
                      </a:pPr>
                      <a:r>
                        <a:rPr lang="en-US" sz="2400" dirty="0">
                          <a:effectLst/>
                          <a:highlight>
                            <a:srgbClr val="FFFF00"/>
                          </a:highlight>
                        </a:rPr>
                        <a:t>M wins </a:t>
                      </a:r>
                      <a:r>
                        <a:rPr lang="en-US" sz="2400" dirty="0">
                          <a:effectLst/>
                        </a:rPr>
                        <a:t>by 2 votes to 1.</a:t>
                      </a:r>
                      <a:endParaRPr lang="en-US"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9545" marR="59545" marT="0" marB="0"/>
                </a:tc>
                <a:extLst>
                  <a:ext uri="{0D108BD9-81ED-4DB2-BD59-A6C34878D82A}">
                    <a16:rowId xmlns:a16="http://schemas.microsoft.com/office/drawing/2014/main" val="1908265440"/>
                  </a:ext>
                </a:extLst>
              </a:tr>
            </a:tbl>
          </a:graphicData>
        </a:graphic>
      </p:graphicFrame>
      <p:sp>
        <p:nvSpPr>
          <p:cNvPr id="9" name="Content Placeholder 8">
            <a:extLst>
              <a:ext uri="{FF2B5EF4-FFF2-40B4-BE49-F238E27FC236}">
                <a16:creationId xmlns:a16="http://schemas.microsoft.com/office/drawing/2014/main" id="{C3CC4455-EB67-C2ED-548F-19F0E2C201EF}"/>
              </a:ext>
            </a:extLst>
          </p:cNvPr>
          <p:cNvSpPr>
            <a:spLocks noGrp="1"/>
          </p:cNvSpPr>
          <p:nvPr>
            <p:ph sz="quarter" idx="4"/>
          </p:nvPr>
        </p:nvSpPr>
        <p:spPr>
          <a:xfrm>
            <a:off x="6637867" y="1538291"/>
            <a:ext cx="5304197" cy="4981045"/>
          </a:xfrm>
        </p:spPr>
        <p:txBody>
          <a:bodyPr>
            <a:normAutofit fontScale="85000" lnSpcReduction="20000"/>
          </a:bodyPr>
          <a:lstStyle/>
          <a:p>
            <a:r>
              <a:rPr lang="en-US" dirty="0"/>
              <a:t>The results are: M beats H, L beats H and M beats L </a:t>
            </a:r>
          </a:p>
          <a:p>
            <a:r>
              <a:rPr lang="en-US" dirty="0"/>
              <a:t>Since </a:t>
            </a:r>
            <a:r>
              <a:rPr lang="en-US" b="1" dirty="0"/>
              <a:t>M defeats both H and L</a:t>
            </a:r>
            <a:r>
              <a:rPr lang="en-US" dirty="0"/>
              <a:t>, M is the </a:t>
            </a:r>
            <a:r>
              <a:rPr lang="en-US" b="1" dirty="0"/>
              <a:t>winner</a:t>
            </a:r>
            <a:r>
              <a:rPr lang="en-US" dirty="0"/>
              <a:t>.</a:t>
            </a:r>
          </a:p>
          <a:p>
            <a:r>
              <a:rPr lang="en-US" dirty="0"/>
              <a:t>Therefore, majority rule produces a </a:t>
            </a:r>
            <a:r>
              <a:rPr lang="en-US" b="1" dirty="0"/>
              <a:t>stable outcome: Medium spending (M).</a:t>
            </a:r>
            <a:endParaRPr lang="en-US" dirty="0"/>
          </a:p>
          <a:p>
            <a:r>
              <a:rPr lang="en-US" b="1" dirty="0"/>
              <a:t>Would agenda setting matter?</a:t>
            </a:r>
            <a:endParaRPr lang="en-US" dirty="0"/>
          </a:p>
          <a:p>
            <a:r>
              <a:rPr lang="en-US" dirty="0"/>
              <a:t>No.</a:t>
            </a:r>
          </a:p>
          <a:p>
            <a:r>
              <a:rPr lang="en-US" dirty="0"/>
              <a:t>Because M is the Condorcet winner, it will defeat any other option in a pairwise vote regardless of the order in which alternatives are considered. Therefore, giving one person the power to set the agenda would not affect the final outcome</a:t>
            </a:r>
            <a:r>
              <a:rPr lang="en-US" b="1" dirty="0"/>
              <a:t>.</a:t>
            </a:r>
            <a:endParaRPr lang="en-US" dirty="0"/>
          </a:p>
          <a:p>
            <a:endParaRPr lang="en-US" dirty="0"/>
          </a:p>
        </p:txBody>
      </p:sp>
    </p:spTree>
    <p:extLst>
      <p:ext uri="{BB962C8B-B14F-4D97-AF65-F5344CB8AC3E}">
        <p14:creationId xmlns:p14="http://schemas.microsoft.com/office/powerpoint/2010/main" val="6013203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5B7F3D13-630B-67C6-CDEE-FE83AD23F307}"/>
              </a:ext>
            </a:extLst>
          </p:cNvPr>
          <p:cNvSpPr>
            <a:spLocks noGrp="1"/>
          </p:cNvSpPr>
          <p:nvPr>
            <p:ph idx="1"/>
          </p:nvPr>
        </p:nvSpPr>
        <p:spPr/>
        <p:txBody>
          <a:bodyPr/>
          <a:lstStyle/>
          <a:p>
            <a:pPr marL="0" indent="0">
              <a:buNone/>
            </a:pPr>
            <a:r>
              <a:rPr lang="en-US" dirty="0"/>
              <a:t>b) Now suppose that Eleanor’s preference ordering changed to the following: first choice = L, second choice = H, and third choice = M. Would majority rule lead to a stable outcome? If so, what is that choice? Would giving one person the ability to set the agenda affect the outcome? Explain.</a:t>
            </a:r>
          </a:p>
        </p:txBody>
      </p:sp>
    </p:spTree>
    <p:extLst>
      <p:ext uri="{BB962C8B-B14F-4D97-AF65-F5344CB8AC3E}">
        <p14:creationId xmlns:p14="http://schemas.microsoft.com/office/powerpoint/2010/main" val="29381312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855C16A-E80E-456C-117E-3C13F82D5D01}"/>
              </a:ext>
            </a:extLst>
          </p:cNvPr>
          <p:cNvSpPr>
            <a:spLocks noGrp="1"/>
          </p:cNvSpPr>
          <p:nvPr>
            <p:ph type="title"/>
          </p:nvPr>
        </p:nvSpPr>
        <p:spPr>
          <a:xfrm>
            <a:off x="838200" y="365125"/>
            <a:ext cx="10515600" cy="878459"/>
          </a:xfrm>
        </p:spPr>
        <p:txBody>
          <a:bodyPr>
            <a:normAutofit/>
          </a:bodyPr>
          <a:lstStyle/>
          <a:p>
            <a:r>
              <a:rPr lang="en-US" sz="4000" b="1" dirty="0"/>
              <a:t>Eleanor's New Preferences: L &gt; H &gt; M</a:t>
            </a:r>
          </a:p>
        </p:txBody>
      </p:sp>
      <p:graphicFrame>
        <p:nvGraphicFramePr>
          <p:cNvPr id="10" name="Content Placeholder 9">
            <a:extLst>
              <a:ext uri="{FF2B5EF4-FFF2-40B4-BE49-F238E27FC236}">
                <a16:creationId xmlns:a16="http://schemas.microsoft.com/office/drawing/2014/main" id="{E9D13D31-6694-E81A-1654-CF02B522F1A1}"/>
              </a:ext>
            </a:extLst>
          </p:cNvPr>
          <p:cNvGraphicFramePr>
            <a:graphicFrameLocks noGrp="1"/>
          </p:cNvGraphicFramePr>
          <p:nvPr>
            <p:ph sz="half" idx="1"/>
            <p:extLst>
              <p:ext uri="{D42A27DB-BD31-4B8C-83A1-F6EECF244321}">
                <p14:modId xmlns:p14="http://schemas.microsoft.com/office/powerpoint/2010/main" val="489370301"/>
              </p:ext>
            </p:extLst>
          </p:nvPr>
        </p:nvGraphicFramePr>
        <p:xfrm>
          <a:off x="530352" y="1508760"/>
          <a:ext cx="6272784" cy="4087366"/>
        </p:xfrm>
        <a:graphic>
          <a:graphicData uri="http://schemas.openxmlformats.org/drawingml/2006/table">
            <a:tbl>
              <a:tblPr firstRow="1" firstCol="1" bandRow="1">
                <a:tableStyleId>{5C22544A-7EE6-4342-B048-85BDC9FD1C3A}</a:tableStyleId>
              </a:tblPr>
              <a:tblGrid>
                <a:gridCol w="1197864">
                  <a:extLst>
                    <a:ext uri="{9D8B030D-6E8A-4147-A177-3AD203B41FA5}">
                      <a16:colId xmlns:a16="http://schemas.microsoft.com/office/drawing/2014/main" val="711482418"/>
                    </a:ext>
                  </a:extLst>
                </a:gridCol>
                <a:gridCol w="1767576">
                  <a:extLst>
                    <a:ext uri="{9D8B030D-6E8A-4147-A177-3AD203B41FA5}">
                      <a16:colId xmlns:a16="http://schemas.microsoft.com/office/drawing/2014/main" val="2178028539"/>
                    </a:ext>
                  </a:extLst>
                </a:gridCol>
                <a:gridCol w="1643136">
                  <a:extLst>
                    <a:ext uri="{9D8B030D-6E8A-4147-A177-3AD203B41FA5}">
                      <a16:colId xmlns:a16="http://schemas.microsoft.com/office/drawing/2014/main" val="4202730630"/>
                    </a:ext>
                  </a:extLst>
                </a:gridCol>
                <a:gridCol w="1664208">
                  <a:extLst>
                    <a:ext uri="{9D8B030D-6E8A-4147-A177-3AD203B41FA5}">
                      <a16:colId xmlns:a16="http://schemas.microsoft.com/office/drawing/2014/main" val="1878650251"/>
                    </a:ext>
                  </a:extLst>
                </a:gridCol>
              </a:tblGrid>
              <a:tr h="821087">
                <a:tc>
                  <a:txBody>
                    <a:bodyPr/>
                    <a:lstStyle/>
                    <a:p>
                      <a:pPr marL="0" marR="0" algn="ctr">
                        <a:lnSpc>
                          <a:spcPct val="107000"/>
                        </a:lnSpc>
                        <a:spcAft>
                          <a:spcPts val="800"/>
                        </a:spcAft>
                        <a:buNone/>
                      </a:pP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txBody>
                  <a:tcPr marL="59545" marR="59545" marT="0" marB="0"/>
                </a:tc>
                <a:tc>
                  <a:txBody>
                    <a:bodyPr/>
                    <a:lstStyle/>
                    <a:p>
                      <a:pPr marL="0" marR="0" algn="ctr">
                        <a:lnSpc>
                          <a:spcPct val="107000"/>
                        </a:lnSpc>
                        <a:spcAft>
                          <a:spcPts val="800"/>
                        </a:spcAft>
                        <a:buNone/>
                      </a:pPr>
                      <a:r>
                        <a:rPr lang="en-US" sz="2800" dirty="0">
                          <a:effectLst/>
                        </a:rPr>
                        <a:t>1. M vs H</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59820" marR="59820" marT="0" marB="0"/>
                </a:tc>
                <a:tc>
                  <a:txBody>
                    <a:bodyPr/>
                    <a:lstStyle/>
                    <a:p>
                      <a:pPr marL="0" marR="0" algn="ctr">
                        <a:buNone/>
                      </a:pPr>
                      <a:r>
                        <a:rPr lang="en-US" sz="2800" dirty="0">
                          <a:effectLst/>
                        </a:rPr>
                        <a:t>2. H vs L</a:t>
                      </a:r>
                      <a:endParaRPr lang="en-US" sz="2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9820" marR="59820" marT="0" marB="0"/>
                </a:tc>
                <a:tc>
                  <a:txBody>
                    <a:bodyPr/>
                    <a:lstStyle/>
                    <a:p>
                      <a:pPr marL="0" marR="0" algn="ctr">
                        <a:buNone/>
                      </a:pPr>
                      <a:r>
                        <a:rPr lang="en-US" sz="2800" dirty="0">
                          <a:effectLst/>
                        </a:rPr>
                        <a:t>3. L vs M</a:t>
                      </a:r>
                      <a:endParaRPr lang="en-US" sz="2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9820" marR="59820" marT="0" marB="0"/>
                </a:tc>
                <a:extLst>
                  <a:ext uri="{0D108BD9-81ED-4DB2-BD59-A6C34878D82A}">
                    <a16:rowId xmlns:a16="http://schemas.microsoft.com/office/drawing/2014/main" val="629513721"/>
                  </a:ext>
                </a:extLst>
              </a:tr>
              <a:tr h="821087">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US" sz="2400" dirty="0">
                          <a:effectLst/>
                        </a:rPr>
                        <a:t>John</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59545" marR="59545" marT="0" marB="0" anchor="ctr"/>
                </a:tc>
                <a:tc>
                  <a:txBody>
                    <a:bodyPr/>
                    <a:lstStyle/>
                    <a:p>
                      <a:pPr marL="0" marR="0" algn="ctr">
                        <a:lnSpc>
                          <a:spcPct val="107000"/>
                        </a:lnSpc>
                        <a:spcAft>
                          <a:spcPts val="800"/>
                        </a:spcAft>
                        <a:buNone/>
                      </a:pPr>
                      <a:r>
                        <a:rPr lang="en-US" sz="2400" dirty="0">
                          <a:effectLst/>
                        </a:rPr>
                        <a:t>M &gt; H → M</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59820" marR="59820" marT="0" marB="0" anchor="ctr"/>
                </a:tc>
                <a:tc>
                  <a:txBody>
                    <a:bodyPr/>
                    <a:lstStyle/>
                    <a:p>
                      <a:pPr marL="0" marR="0" algn="ctr">
                        <a:lnSpc>
                          <a:spcPct val="107000"/>
                        </a:lnSpc>
                        <a:spcAft>
                          <a:spcPts val="800"/>
                        </a:spcAft>
                        <a:buNone/>
                      </a:pPr>
                      <a:r>
                        <a:rPr lang="en-US" sz="2400" dirty="0">
                          <a:effectLst/>
                        </a:rPr>
                        <a:t>L &gt; H → L</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59820" marR="59820" marT="0" marB="0" anchor="ctr"/>
                </a:tc>
                <a:tc>
                  <a:txBody>
                    <a:bodyPr/>
                    <a:lstStyle/>
                    <a:p>
                      <a:pPr marL="0" marR="0" algn="ctr">
                        <a:lnSpc>
                          <a:spcPct val="107000"/>
                        </a:lnSpc>
                        <a:spcAft>
                          <a:spcPts val="800"/>
                        </a:spcAft>
                        <a:buNone/>
                      </a:pPr>
                      <a:r>
                        <a:rPr lang="en-US" sz="2400" dirty="0">
                          <a:effectLst/>
                        </a:rPr>
                        <a:t>M &gt; L → M</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59820" marR="59820" marT="0" marB="0" anchor="ctr"/>
                </a:tc>
                <a:extLst>
                  <a:ext uri="{0D108BD9-81ED-4DB2-BD59-A6C34878D82A}">
                    <a16:rowId xmlns:a16="http://schemas.microsoft.com/office/drawing/2014/main" val="3722646447"/>
                  </a:ext>
                </a:extLst>
              </a:tr>
              <a:tr h="821087">
                <a:tc>
                  <a:txBody>
                    <a:bodyPr/>
                    <a:lstStyle/>
                    <a:p>
                      <a:pPr marL="0" marR="0">
                        <a:lnSpc>
                          <a:spcPct val="107000"/>
                        </a:lnSpc>
                        <a:spcAft>
                          <a:spcPts val="800"/>
                        </a:spcAft>
                        <a:buNone/>
                      </a:pPr>
                      <a:r>
                        <a:rPr lang="en-US" sz="2400" b="1" dirty="0"/>
                        <a:t>Eleanor</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59545" marR="59545" marT="0" marB="0"/>
                </a:tc>
                <a:tc>
                  <a:txBody>
                    <a:bodyPr/>
                    <a:lstStyle/>
                    <a:p>
                      <a:pPr marL="0" marR="0" algn="ctr">
                        <a:lnSpc>
                          <a:spcPct val="107000"/>
                        </a:lnSpc>
                        <a:spcAft>
                          <a:spcPts val="800"/>
                        </a:spcAft>
                        <a:buNone/>
                      </a:pPr>
                      <a:r>
                        <a:rPr lang="en-US" sz="2400" dirty="0">
                          <a:effectLst/>
                        </a:rPr>
                        <a:t>H &gt; M → H</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59820" marR="59820" marT="0" marB="0"/>
                </a:tc>
                <a:tc>
                  <a:txBody>
                    <a:bodyPr/>
                    <a:lstStyle/>
                    <a:p>
                      <a:pPr marL="0" marR="0" algn="ctr">
                        <a:lnSpc>
                          <a:spcPct val="107000"/>
                        </a:lnSpc>
                        <a:spcAft>
                          <a:spcPts val="800"/>
                        </a:spcAft>
                        <a:buNone/>
                      </a:pPr>
                      <a:r>
                        <a:rPr lang="en-US" sz="2400" dirty="0">
                          <a:effectLst/>
                        </a:rPr>
                        <a:t>L &gt; H → L</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59820" marR="59820" marT="0" marB="0"/>
                </a:tc>
                <a:tc>
                  <a:txBody>
                    <a:bodyPr/>
                    <a:lstStyle/>
                    <a:p>
                      <a:pPr marL="0" marR="0" algn="ctr">
                        <a:lnSpc>
                          <a:spcPct val="107000"/>
                        </a:lnSpc>
                        <a:spcAft>
                          <a:spcPts val="800"/>
                        </a:spcAft>
                        <a:buNone/>
                      </a:pPr>
                      <a:r>
                        <a:rPr lang="en-US" sz="2400" dirty="0">
                          <a:effectLst/>
                        </a:rPr>
                        <a:t>L &gt; M → L</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59820" marR="59820" marT="0" marB="0"/>
                </a:tc>
                <a:extLst>
                  <a:ext uri="{0D108BD9-81ED-4DB2-BD59-A6C34878D82A}">
                    <a16:rowId xmlns:a16="http://schemas.microsoft.com/office/drawing/2014/main" val="3572962075"/>
                  </a:ext>
                </a:extLst>
              </a:tr>
              <a:tr h="821087">
                <a:tc>
                  <a:txBody>
                    <a:bodyPr/>
                    <a:lstStyle/>
                    <a:p>
                      <a:pPr marL="0" marR="0">
                        <a:lnSpc>
                          <a:spcPct val="107000"/>
                        </a:lnSpc>
                        <a:spcAft>
                          <a:spcPts val="800"/>
                        </a:spcAft>
                        <a:buNone/>
                      </a:pPr>
                      <a:r>
                        <a:rPr lang="en-US" sz="2400" b="1" dirty="0"/>
                        <a:t>Abigail</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59545" marR="59545" marT="0" marB="0"/>
                </a:tc>
                <a:tc>
                  <a:txBody>
                    <a:bodyPr/>
                    <a:lstStyle/>
                    <a:p>
                      <a:pPr marL="0" marR="0" algn="ctr">
                        <a:lnSpc>
                          <a:spcPct val="107000"/>
                        </a:lnSpc>
                        <a:spcAft>
                          <a:spcPts val="800"/>
                        </a:spcAft>
                        <a:buNone/>
                      </a:pPr>
                      <a:r>
                        <a:rPr lang="en-US" sz="2400" dirty="0">
                          <a:effectLst/>
                        </a:rPr>
                        <a:t>H &gt; M → H</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59820" marR="59820" marT="0" marB="0"/>
                </a:tc>
                <a:tc>
                  <a:txBody>
                    <a:bodyPr/>
                    <a:lstStyle/>
                    <a:p>
                      <a:pPr marL="0" marR="0" algn="ctr">
                        <a:lnSpc>
                          <a:spcPct val="107000"/>
                        </a:lnSpc>
                        <a:spcAft>
                          <a:spcPts val="800"/>
                        </a:spcAft>
                        <a:buNone/>
                      </a:pPr>
                      <a:r>
                        <a:rPr lang="en-US" sz="2400" dirty="0">
                          <a:effectLst/>
                        </a:rPr>
                        <a:t>H &gt; L → H</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59820" marR="59820" marT="0" marB="0"/>
                </a:tc>
                <a:tc>
                  <a:txBody>
                    <a:bodyPr/>
                    <a:lstStyle/>
                    <a:p>
                      <a:pPr marL="0" marR="0" algn="ctr">
                        <a:lnSpc>
                          <a:spcPct val="107000"/>
                        </a:lnSpc>
                        <a:spcAft>
                          <a:spcPts val="800"/>
                        </a:spcAft>
                        <a:buNone/>
                      </a:pPr>
                      <a:r>
                        <a:rPr lang="en-US" sz="2400" dirty="0">
                          <a:effectLst/>
                        </a:rPr>
                        <a:t>M &gt; L → M</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59820" marR="59820" marT="0" marB="0"/>
                </a:tc>
                <a:extLst>
                  <a:ext uri="{0D108BD9-81ED-4DB2-BD59-A6C34878D82A}">
                    <a16:rowId xmlns:a16="http://schemas.microsoft.com/office/drawing/2014/main" val="1472467230"/>
                  </a:ext>
                </a:extLst>
              </a:tr>
              <a:tr h="803018">
                <a:tc>
                  <a:txBody>
                    <a:bodyPr/>
                    <a:lstStyle/>
                    <a:p>
                      <a:pPr marL="0" marR="0">
                        <a:buNone/>
                      </a:pPr>
                      <a:r>
                        <a:rPr lang="en-US" sz="2400" dirty="0">
                          <a:effectLst/>
                        </a:rPr>
                        <a:t>Result</a:t>
                      </a:r>
                      <a:endParaRPr lang="en-US"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9545" marR="59545" marT="0" marB="0"/>
                </a:tc>
                <a:tc>
                  <a:txBody>
                    <a:bodyPr/>
                    <a:lstStyle/>
                    <a:p>
                      <a:pPr marL="0" marR="0" algn="ctr">
                        <a:buNone/>
                      </a:pPr>
                      <a:r>
                        <a:rPr lang="en-US" sz="2400" dirty="0">
                          <a:effectLst/>
                          <a:highlight>
                            <a:srgbClr val="FFFF00"/>
                          </a:highlight>
                        </a:rPr>
                        <a:t>H wins </a:t>
                      </a:r>
                      <a:r>
                        <a:rPr lang="en-US" sz="2400" dirty="0">
                          <a:effectLst/>
                        </a:rPr>
                        <a:t>by 2 votes to 1.</a:t>
                      </a:r>
                      <a:endParaRPr lang="en-US"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9820" marR="59820" marT="0" marB="0"/>
                </a:tc>
                <a:tc>
                  <a:txBody>
                    <a:bodyPr/>
                    <a:lstStyle/>
                    <a:p>
                      <a:pPr marL="0" marR="0" algn="ctr">
                        <a:buNone/>
                      </a:pPr>
                      <a:r>
                        <a:rPr lang="en-US" sz="2400" dirty="0">
                          <a:effectLst/>
                          <a:highlight>
                            <a:srgbClr val="FFFF00"/>
                          </a:highlight>
                        </a:rPr>
                        <a:t>L wins </a:t>
                      </a:r>
                      <a:r>
                        <a:rPr lang="en-US" sz="2400" dirty="0">
                          <a:effectLst/>
                        </a:rPr>
                        <a:t>by 2 votes to 1.</a:t>
                      </a:r>
                      <a:endParaRPr lang="en-US"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9820" marR="59820" marT="0" marB="0"/>
                </a:tc>
                <a:tc>
                  <a:txBody>
                    <a:bodyPr/>
                    <a:lstStyle/>
                    <a:p>
                      <a:pPr marL="0" marR="0" algn="ctr">
                        <a:buNone/>
                      </a:pPr>
                      <a:r>
                        <a:rPr lang="en-US" sz="2400" dirty="0">
                          <a:effectLst/>
                          <a:highlight>
                            <a:srgbClr val="FFFF00"/>
                          </a:highlight>
                        </a:rPr>
                        <a:t>M wins </a:t>
                      </a:r>
                      <a:r>
                        <a:rPr lang="en-US" sz="2400" dirty="0">
                          <a:effectLst/>
                        </a:rPr>
                        <a:t>by 2 votes to 1.</a:t>
                      </a:r>
                      <a:endParaRPr lang="en-US"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9820" marR="59820" marT="0" marB="0"/>
                </a:tc>
                <a:extLst>
                  <a:ext uri="{0D108BD9-81ED-4DB2-BD59-A6C34878D82A}">
                    <a16:rowId xmlns:a16="http://schemas.microsoft.com/office/drawing/2014/main" val="2744594550"/>
                  </a:ext>
                </a:extLst>
              </a:tr>
            </a:tbl>
          </a:graphicData>
        </a:graphic>
      </p:graphicFrame>
      <p:sp>
        <p:nvSpPr>
          <p:cNvPr id="9" name="Content Placeholder 8">
            <a:extLst>
              <a:ext uri="{FF2B5EF4-FFF2-40B4-BE49-F238E27FC236}">
                <a16:creationId xmlns:a16="http://schemas.microsoft.com/office/drawing/2014/main" id="{3BF8F160-F911-0B59-5EA4-FD2071504C8F}"/>
              </a:ext>
            </a:extLst>
          </p:cNvPr>
          <p:cNvSpPr>
            <a:spLocks noGrp="1"/>
          </p:cNvSpPr>
          <p:nvPr>
            <p:ph sz="half" idx="2"/>
          </p:nvPr>
        </p:nvSpPr>
        <p:spPr>
          <a:xfrm>
            <a:off x="7168896" y="1508760"/>
            <a:ext cx="4712208" cy="4668203"/>
          </a:xfrm>
        </p:spPr>
        <p:txBody>
          <a:bodyPr>
            <a:normAutofit fontScale="92500"/>
          </a:bodyPr>
          <a:lstStyle/>
          <a:p>
            <a:r>
              <a:rPr lang="en-US" dirty="0"/>
              <a:t>This is known as the </a:t>
            </a:r>
            <a:r>
              <a:rPr lang="en-US" b="1" dirty="0"/>
              <a:t>voting Paradox</a:t>
            </a:r>
            <a:r>
              <a:rPr lang="en-US" dirty="0"/>
              <a:t>.</a:t>
            </a:r>
          </a:p>
          <a:p>
            <a:r>
              <a:rPr lang="en-US" dirty="0"/>
              <a:t>No option defeats all others. Therefore, majority rule does </a:t>
            </a:r>
            <a:r>
              <a:rPr lang="en-US" b="1" dirty="0"/>
              <a:t>not</a:t>
            </a:r>
            <a:r>
              <a:rPr lang="en-US" dirty="0"/>
              <a:t> produce a stable outcome.</a:t>
            </a:r>
          </a:p>
          <a:p>
            <a:r>
              <a:rPr lang="en-US" b="1" dirty="0"/>
              <a:t>Would agenda setting matter?</a:t>
            </a:r>
          </a:p>
          <a:p>
            <a:r>
              <a:rPr lang="en-US" dirty="0"/>
              <a:t>Yes. Because preferences are cyclical, the final outcome depends on the order in which alternatives are voted on.</a:t>
            </a:r>
          </a:p>
          <a:p>
            <a:endParaRPr lang="en-US" dirty="0"/>
          </a:p>
        </p:txBody>
      </p:sp>
    </p:spTree>
    <p:extLst>
      <p:ext uri="{BB962C8B-B14F-4D97-AF65-F5344CB8AC3E}">
        <p14:creationId xmlns:p14="http://schemas.microsoft.com/office/powerpoint/2010/main" val="752183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824B49D-7BF2-C275-F976-65D522AE1D34}"/>
              </a:ext>
            </a:extLst>
          </p:cNvPr>
          <p:cNvSpPr>
            <a:spLocks noGrp="1"/>
          </p:cNvSpPr>
          <p:nvPr>
            <p:ph type="title"/>
          </p:nvPr>
        </p:nvSpPr>
        <p:spPr/>
        <p:txBody>
          <a:bodyPr/>
          <a:lstStyle/>
          <a:p>
            <a:r>
              <a:rPr lang="en-US" b="1" dirty="0"/>
              <a:t>Different agendas produce different winners</a:t>
            </a:r>
          </a:p>
        </p:txBody>
      </p:sp>
      <p:graphicFrame>
        <p:nvGraphicFramePr>
          <p:cNvPr id="7" name="Content Placeholder 6">
            <a:extLst>
              <a:ext uri="{FF2B5EF4-FFF2-40B4-BE49-F238E27FC236}">
                <a16:creationId xmlns:a16="http://schemas.microsoft.com/office/drawing/2014/main" id="{86A0ED57-ED91-B820-8AF2-DA6FF8790ED6}"/>
              </a:ext>
            </a:extLst>
          </p:cNvPr>
          <p:cNvGraphicFramePr>
            <a:graphicFrameLocks noGrp="1"/>
          </p:cNvGraphicFramePr>
          <p:nvPr>
            <p:ph idx="1"/>
            <p:extLst>
              <p:ext uri="{D42A27DB-BD31-4B8C-83A1-F6EECF244321}">
                <p14:modId xmlns:p14="http://schemas.microsoft.com/office/powerpoint/2010/main" val="1924036792"/>
              </p:ext>
            </p:extLst>
          </p:nvPr>
        </p:nvGraphicFramePr>
        <p:xfrm>
          <a:off x="780048" y="2002088"/>
          <a:ext cx="10631904" cy="4007307"/>
        </p:xfrm>
        <a:graphic>
          <a:graphicData uri="http://schemas.openxmlformats.org/drawingml/2006/table">
            <a:tbl>
              <a:tblPr firstRow="1" bandRow="1">
                <a:tableStyleId>{5C22544A-7EE6-4342-B048-85BDC9FD1C3A}</a:tableStyleId>
              </a:tblPr>
              <a:tblGrid>
                <a:gridCol w="3543968">
                  <a:extLst>
                    <a:ext uri="{9D8B030D-6E8A-4147-A177-3AD203B41FA5}">
                      <a16:colId xmlns:a16="http://schemas.microsoft.com/office/drawing/2014/main" val="1586144707"/>
                    </a:ext>
                  </a:extLst>
                </a:gridCol>
                <a:gridCol w="3543968">
                  <a:extLst>
                    <a:ext uri="{9D8B030D-6E8A-4147-A177-3AD203B41FA5}">
                      <a16:colId xmlns:a16="http://schemas.microsoft.com/office/drawing/2014/main" val="2889271267"/>
                    </a:ext>
                  </a:extLst>
                </a:gridCol>
                <a:gridCol w="3543968">
                  <a:extLst>
                    <a:ext uri="{9D8B030D-6E8A-4147-A177-3AD203B41FA5}">
                      <a16:colId xmlns:a16="http://schemas.microsoft.com/office/drawing/2014/main" val="1244923306"/>
                    </a:ext>
                  </a:extLst>
                </a:gridCol>
              </a:tblGrid>
              <a:tr h="1081227">
                <a:tc>
                  <a:txBody>
                    <a:bodyPr/>
                    <a:lstStyle/>
                    <a:p>
                      <a:pPr algn="ctr"/>
                      <a:r>
                        <a:rPr lang="en-US" sz="4000" dirty="0"/>
                        <a:t>Case 1</a:t>
                      </a:r>
                    </a:p>
                  </a:txBody>
                  <a:tcPr/>
                </a:tc>
                <a:tc>
                  <a:txBody>
                    <a:bodyPr/>
                    <a:lstStyle/>
                    <a:p>
                      <a:pPr algn="ctr"/>
                      <a:r>
                        <a:rPr lang="en-US" sz="4000" dirty="0"/>
                        <a:t>Case 2</a:t>
                      </a:r>
                    </a:p>
                  </a:txBody>
                  <a:tcPr/>
                </a:tc>
                <a:tc>
                  <a:txBody>
                    <a:bodyPr/>
                    <a:lstStyle/>
                    <a:p>
                      <a:pPr algn="ctr"/>
                      <a:r>
                        <a:rPr lang="en-US" sz="4000" dirty="0"/>
                        <a:t>Case 3</a:t>
                      </a:r>
                    </a:p>
                  </a:txBody>
                  <a:tcPr/>
                </a:tc>
                <a:extLst>
                  <a:ext uri="{0D108BD9-81ED-4DB2-BD59-A6C34878D82A}">
                    <a16:rowId xmlns:a16="http://schemas.microsoft.com/office/drawing/2014/main" val="1588792807"/>
                  </a:ext>
                </a:extLst>
              </a:tr>
              <a:tr h="1081227">
                <a:tc>
                  <a:txBody>
                    <a:bodyPr/>
                    <a:lstStyle/>
                    <a:p>
                      <a:pPr lvl="0"/>
                      <a:r>
                        <a:rPr lang="en-US" sz="3600" kern="1200" dirty="0">
                          <a:solidFill>
                            <a:schemeClr val="dk1"/>
                          </a:solidFill>
                          <a:effectLst/>
                          <a:latin typeface="+mn-lt"/>
                          <a:ea typeface="+mn-ea"/>
                          <a:cs typeface="+mn-cs"/>
                        </a:rPr>
                        <a:t>H vs M → H wins </a:t>
                      </a:r>
                    </a:p>
                    <a:p>
                      <a:pPr lvl="0"/>
                      <a:r>
                        <a:rPr lang="en-US" sz="3600" kern="1200" dirty="0">
                          <a:solidFill>
                            <a:schemeClr val="dk1"/>
                          </a:solidFill>
                          <a:effectLst/>
                          <a:latin typeface="+mn-lt"/>
                          <a:ea typeface="+mn-ea"/>
                          <a:cs typeface="+mn-cs"/>
                        </a:rPr>
                        <a:t>H vs L → L wins </a:t>
                      </a:r>
                    </a:p>
                  </a:txBody>
                  <a:tcPr/>
                </a:tc>
                <a:tc>
                  <a:txBody>
                    <a:bodyPr/>
                    <a:lstStyle/>
                    <a:p>
                      <a:pPr lvl="0"/>
                      <a:r>
                        <a:rPr lang="en-US" sz="3600" kern="1200" dirty="0">
                          <a:solidFill>
                            <a:schemeClr val="dk1"/>
                          </a:solidFill>
                          <a:effectLst/>
                          <a:latin typeface="+mn-lt"/>
                          <a:ea typeface="+mn-ea"/>
                          <a:cs typeface="+mn-cs"/>
                        </a:rPr>
                        <a:t>L vs M → M wins </a:t>
                      </a:r>
                    </a:p>
                    <a:p>
                      <a:pPr lvl="0"/>
                      <a:r>
                        <a:rPr lang="en-US" sz="3600" kern="1200" dirty="0">
                          <a:solidFill>
                            <a:schemeClr val="dk1"/>
                          </a:solidFill>
                          <a:effectLst/>
                          <a:latin typeface="+mn-lt"/>
                          <a:ea typeface="+mn-ea"/>
                          <a:cs typeface="+mn-cs"/>
                        </a:rPr>
                        <a:t>M vs H → H wins </a:t>
                      </a:r>
                    </a:p>
                    <a:p>
                      <a:endParaRPr lang="en-US" sz="3600" dirty="0"/>
                    </a:p>
                  </a:txBody>
                  <a:tcPr/>
                </a:tc>
                <a:tc>
                  <a:txBody>
                    <a:bodyPr/>
                    <a:lstStyle/>
                    <a:p>
                      <a:pPr lvl="0"/>
                      <a:r>
                        <a:rPr lang="en-US" sz="3600" kern="1200" dirty="0">
                          <a:solidFill>
                            <a:schemeClr val="dk1"/>
                          </a:solidFill>
                          <a:effectLst/>
                          <a:latin typeface="+mn-lt"/>
                          <a:ea typeface="+mn-ea"/>
                          <a:cs typeface="+mn-cs"/>
                        </a:rPr>
                        <a:t>H vs L → L wins </a:t>
                      </a:r>
                    </a:p>
                    <a:p>
                      <a:pPr lvl="0"/>
                      <a:r>
                        <a:rPr lang="en-US" sz="3600" kern="1200" dirty="0">
                          <a:solidFill>
                            <a:schemeClr val="dk1"/>
                          </a:solidFill>
                          <a:effectLst/>
                          <a:latin typeface="+mn-lt"/>
                          <a:ea typeface="+mn-ea"/>
                          <a:cs typeface="+mn-cs"/>
                        </a:rPr>
                        <a:t>L vs M → M wins </a:t>
                      </a:r>
                    </a:p>
                    <a:p>
                      <a:endParaRPr lang="en-US" sz="3600" dirty="0"/>
                    </a:p>
                  </a:txBody>
                  <a:tcPr/>
                </a:tc>
                <a:extLst>
                  <a:ext uri="{0D108BD9-81ED-4DB2-BD59-A6C34878D82A}">
                    <a16:rowId xmlns:a16="http://schemas.microsoft.com/office/drawing/2014/main" val="4001194070"/>
                  </a:ext>
                </a:extLst>
              </a:tr>
              <a:tr h="108122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b="0" kern="1200" dirty="0">
                          <a:solidFill>
                            <a:schemeClr val="dk1"/>
                          </a:solidFill>
                          <a:effectLst/>
                          <a:latin typeface="+mn-lt"/>
                          <a:ea typeface="+mn-ea"/>
                          <a:cs typeface="+mn-cs"/>
                        </a:rPr>
                        <a:t>Final outcome: L</a:t>
                      </a:r>
                      <a:endParaRPr lang="en-US" sz="3600" kern="1200" dirty="0">
                        <a:solidFill>
                          <a:schemeClr val="dk1"/>
                        </a:solidFill>
                        <a:effectLst/>
                        <a:latin typeface="+mn-lt"/>
                        <a:ea typeface="+mn-ea"/>
                        <a:cs typeface="+mn-cs"/>
                      </a:endParaRPr>
                    </a:p>
                    <a:p>
                      <a:endParaRPr lang="en-US" sz="3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b="0" kern="1200" dirty="0">
                          <a:solidFill>
                            <a:schemeClr val="dk1"/>
                          </a:solidFill>
                          <a:effectLst/>
                          <a:latin typeface="+mn-lt"/>
                          <a:ea typeface="+mn-ea"/>
                          <a:cs typeface="+mn-cs"/>
                        </a:rPr>
                        <a:t>Final outcome: H</a:t>
                      </a:r>
                      <a:endParaRPr lang="en-US" sz="3600" kern="1200" dirty="0">
                        <a:solidFill>
                          <a:schemeClr val="dk1"/>
                        </a:solidFill>
                        <a:effectLst/>
                        <a:latin typeface="+mn-lt"/>
                        <a:ea typeface="+mn-ea"/>
                        <a:cs typeface="+mn-cs"/>
                      </a:endParaRPr>
                    </a:p>
                    <a:p>
                      <a:endParaRPr lang="en-US" sz="3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b="0" kern="1200" dirty="0">
                          <a:solidFill>
                            <a:schemeClr val="dk1"/>
                          </a:solidFill>
                          <a:effectLst/>
                          <a:latin typeface="+mn-lt"/>
                          <a:ea typeface="+mn-ea"/>
                          <a:cs typeface="+mn-cs"/>
                        </a:rPr>
                        <a:t>Final outcome: M</a:t>
                      </a:r>
                      <a:endParaRPr lang="en-US" sz="3600" kern="1200" dirty="0">
                        <a:solidFill>
                          <a:schemeClr val="dk1"/>
                        </a:solidFill>
                        <a:effectLst/>
                        <a:latin typeface="+mn-lt"/>
                        <a:ea typeface="+mn-ea"/>
                        <a:cs typeface="+mn-cs"/>
                      </a:endParaRPr>
                    </a:p>
                    <a:p>
                      <a:endParaRPr lang="en-US" sz="3600" dirty="0"/>
                    </a:p>
                  </a:txBody>
                  <a:tcPr/>
                </a:tc>
                <a:extLst>
                  <a:ext uri="{0D108BD9-81ED-4DB2-BD59-A6C34878D82A}">
                    <a16:rowId xmlns:a16="http://schemas.microsoft.com/office/drawing/2014/main" val="247214794"/>
                  </a:ext>
                </a:extLst>
              </a:tr>
            </a:tbl>
          </a:graphicData>
        </a:graphic>
      </p:graphicFrame>
    </p:spTree>
    <p:extLst>
      <p:ext uri="{BB962C8B-B14F-4D97-AF65-F5344CB8AC3E}">
        <p14:creationId xmlns:p14="http://schemas.microsoft.com/office/powerpoint/2010/main" val="14158455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EEFED-6427-17E1-1FD0-215E1B649830}"/>
              </a:ext>
            </a:extLst>
          </p:cNvPr>
          <p:cNvSpPr>
            <a:spLocks noGrp="1"/>
          </p:cNvSpPr>
          <p:nvPr>
            <p:ph type="title"/>
          </p:nvPr>
        </p:nvSpPr>
        <p:spPr>
          <a:xfrm>
            <a:off x="838200" y="365125"/>
            <a:ext cx="10515600" cy="969899"/>
          </a:xfrm>
        </p:spPr>
        <p:txBody>
          <a:bodyPr/>
          <a:lstStyle/>
          <a:p>
            <a:r>
              <a:rPr lang="en-US" b="1" dirty="0"/>
              <a:t>Implications of Majority Voting			B</a:t>
            </a:r>
          </a:p>
        </p:txBody>
      </p:sp>
      <p:sp>
        <p:nvSpPr>
          <p:cNvPr id="3" name="Content Placeholder 2">
            <a:extLst>
              <a:ext uri="{FF2B5EF4-FFF2-40B4-BE49-F238E27FC236}">
                <a16:creationId xmlns:a16="http://schemas.microsoft.com/office/drawing/2014/main" id="{97A80EFF-C930-F6F3-CC10-FD9873536BA1}"/>
              </a:ext>
            </a:extLst>
          </p:cNvPr>
          <p:cNvSpPr>
            <a:spLocks noGrp="1"/>
          </p:cNvSpPr>
          <p:nvPr>
            <p:ph idx="1"/>
          </p:nvPr>
        </p:nvSpPr>
        <p:spPr>
          <a:xfrm>
            <a:off x="621792" y="1335024"/>
            <a:ext cx="10954512" cy="5084064"/>
          </a:xfrm>
        </p:spPr>
        <p:txBody>
          <a:bodyPr>
            <a:normAutofit lnSpcReduction="10000"/>
          </a:bodyPr>
          <a:lstStyle/>
          <a:p>
            <a:r>
              <a:rPr lang="en-US" dirty="0"/>
              <a:t>In general, the </a:t>
            </a:r>
            <a:r>
              <a:rPr lang="en-US" b="1" i="1" dirty="0"/>
              <a:t>median quantity </a:t>
            </a:r>
            <a:r>
              <a:rPr lang="en-US" dirty="0"/>
              <a:t>preferred by voters will be selected by majority voting. For that reason, this model is sometimes referred to as the </a:t>
            </a:r>
            <a:r>
              <a:rPr lang="en-US" b="1" i="1" dirty="0"/>
              <a:t>median voter model</a:t>
            </a:r>
            <a:r>
              <a:rPr lang="en-US" dirty="0"/>
              <a:t>. </a:t>
            </a:r>
          </a:p>
          <a:p>
            <a:r>
              <a:rPr lang="en-US" dirty="0"/>
              <a:t>The median voter is the only voter fully satisfied with the politically determined level of output; everyone else prefers either more or less output.</a:t>
            </a:r>
          </a:p>
          <a:p>
            <a:r>
              <a:rPr lang="en-US" dirty="0"/>
              <a:t>It is possible to see why so many people feel that government is not responsive to individual wants.</a:t>
            </a:r>
          </a:p>
          <a:p>
            <a:r>
              <a:rPr lang="en-US" dirty="0"/>
              <a:t>Majority voting is likely to  be unresponsive to changes in individual wants. It ignores the intensity of preferences. </a:t>
            </a:r>
          </a:p>
          <a:p>
            <a:r>
              <a:rPr lang="en-US" dirty="0"/>
              <a:t>There is no inherent tendency for majority voting to produce efficient policies because voting cannot reflect how strongly people feel about the various outcomes. </a:t>
            </a:r>
          </a:p>
        </p:txBody>
      </p:sp>
    </p:spTree>
    <p:extLst>
      <p:ext uri="{BB962C8B-B14F-4D97-AF65-F5344CB8AC3E}">
        <p14:creationId xmlns:p14="http://schemas.microsoft.com/office/powerpoint/2010/main" val="41075275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EC3EAD0-E429-7EA2-B6F8-1549ED441EE0}"/>
              </a:ext>
            </a:extLst>
          </p:cNvPr>
          <p:cNvSpPr>
            <a:spLocks noGrp="1"/>
          </p:cNvSpPr>
          <p:nvPr>
            <p:ph type="title"/>
          </p:nvPr>
        </p:nvSpPr>
        <p:spPr>
          <a:xfrm>
            <a:off x="838200" y="365125"/>
            <a:ext cx="10515600" cy="814451"/>
          </a:xfrm>
        </p:spPr>
        <p:txBody>
          <a:bodyPr/>
          <a:lstStyle/>
          <a:p>
            <a:r>
              <a:rPr lang="en-US" b="1" dirty="0"/>
              <a:t>Majority Voting Does Not Ensure Efficiency</a:t>
            </a:r>
          </a:p>
        </p:txBody>
      </p:sp>
      <p:sp>
        <p:nvSpPr>
          <p:cNvPr id="5" name="Content Placeholder 4">
            <a:extLst>
              <a:ext uri="{FF2B5EF4-FFF2-40B4-BE49-F238E27FC236}">
                <a16:creationId xmlns:a16="http://schemas.microsoft.com/office/drawing/2014/main" id="{055CB88D-36D3-E304-204D-F59A1B951061}"/>
              </a:ext>
            </a:extLst>
          </p:cNvPr>
          <p:cNvSpPr>
            <a:spLocks noGrp="1"/>
          </p:cNvSpPr>
          <p:nvPr>
            <p:ph sz="half" idx="1"/>
          </p:nvPr>
        </p:nvSpPr>
        <p:spPr>
          <a:xfrm>
            <a:off x="335280" y="1286128"/>
            <a:ext cx="5181600" cy="5361559"/>
          </a:xfrm>
        </p:spPr>
        <p:txBody>
          <a:bodyPr>
            <a:normAutofit lnSpcReduction="10000"/>
          </a:bodyPr>
          <a:lstStyle/>
          <a:p>
            <a:r>
              <a:rPr lang="en-US" dirty="0"/>
              <a:t>For public goods the efficient level of output is the point at which the vertically summed MB equals the MC. The individual MBs for taxpayers A, B &amp; C at 10 units of outputs are $3, $10 &amp; $13; so the combined </a:t>
            </a:r>
            <a:r>
              <a:rPr lang="en-US" dirty="0">
                <a:highlight>
                  <a:srgbClr val="FFFF00"/>
                </a:highlight>
              </a:rPr>
              <a:t>MB is $26</a:t>
            </a:r>
            <a:r>
              <a:rPr lang="en-US" dirty="0"/>
              <a:t>. But the </a:t>
            </a:r>
            <a:r>
              <a:rPr lang="en-US" dirty="0">
                <a:highlight>
                  <a:srgbClr val="FFFF00"/>
                </a:highlight>
              </a:rPr>
              <a:t>MC for 10</a:t>
            </a:r>
            <a:r>
              <a:rPr lang="en-US" baseline="30000" dirty="0">
                <a:highlight>
                  <a:srgbClr val="FFFF00"/>
                </a:highlight>
              </a:rPr>
              <a:t>th</a:t>
            </a:r>
            <a:r>
              <a:rPr lang="en-US" dirty="0">
                <a:highlight>
                  <a:srgbClr val="FFFF00"/>
                </a:highlight>
              </a:rPr>
              <a:t> unit is $30</a:t>
            </a:r>
            <a:r>
              <a:rPr lang="en-US" dirty="0"/>
              <a:t>. So the majority voting produces too large an output. </a:t>
            </a:r>
          </a:p>
          <a:p>
            <a:r>
              <a:rPr lang="en-US" dirty="0"/>
              <a:t>If C’s dd were </a:t>
            </a:r>
            <a:r>
              <a:rPr lang="en-US" dirty="0">
                <a:highlight>
                  <a:srgbClr val="FFFF00"/>
                </a:highlight>
              </a:rPr>
              <a:t>dc’</a:t>
            </a:r>
            <a:r>
              <a:rPr lang="en-US" dirty="0"/>
              <a:t> instead of dc, the summed MB would be </a:t>
            </a:r>
            <a:r>
              <a:rPr lang="en-US" dirty="0">
                <a:highlight>
                  <a:srgbClr val="FFFF00"/>
                </a:highlight>
              </a:rPr>
              <a:t>MSB’ </a:t>
            </a:r>
            <a:r>
              <a:rPr lang="en-US" dirty="0"/>
              <a:t>and the </a:t>
            </a:r>
            <a:r>
              <a:rPr lang="en-US" dirty="0" err="1"/>
              <a:t>eqm</a:t>
            </a:r>
            <a:r>
              <a:rPr lang="en-US" dirty="0"/>
              <a:t> level of output would be lower than efficient level.</a:t>
            </a:r>
          </a:p>
        </p:txBody>
      </p:sp>
      <p:pic>
        <p:nvPicPr>
          <p:cNvPr id="8" name="Content Placeholder 7">
            <a:extLst>
              <a:ext uri="{FF2B5EF4-FFF2-40B4-BE49-F238E27FC236}">
                <a16:creationId xmlns:a16="http://schemas.microsoft.com/office/drawing/2014/main" id="{986ACF9A-C128-1E85-46BF-311EB59C9495}"/>
              </a:ext>
            </a:extLst>
          </p:cNvPr>
          <p:cNvPicPr>
            <a:picLocks noGrp="1" noChangeAspect="1"/>
          </p:cNvPicPr>
          <p:nvPr>
            <p:ph sz="half" idx="2"/>
          </p:nvPr>
        </p:nvPicPr>
        <p:blipFill>
          <a:blip r:embed="rId3"/>
          <a:stretch>
            <a:fillRect/>
          </a:stretch>
        </p:blipFill>
        <p:spPr>
          <a:xfrm>
            <a:off x="5640763" y="1825625"/>
            <a:ext cx="6523805" cy="4590288"/>
          </a:xfrm>
          <a:prstGeom prst="rect">
            <a:avLst/>
          </a:prstGeom>
        </p:spPr>
      </p:pic>
    </p:spTree>
    <p:extLst>
      <p:ext uri="{BB962C8B-B14F-4D97-AF65-F5344CB8AC3E}">
        <p14:creationId xmlns:p14="http://schemas.microsoft.com/office/powerpoint/2010/main" val="20783167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217CE-9753-DEB7-C4E9-B9751E42D686}"/>
              </a:ext>
            </a:extLst>
          </p:cNvPr>
          <p:cNvSpPr>
            <a:spLocks noGrp="1"/>
          </p:cNvSpPr>
          <p:nvPr>
            <p:ph type="title"/>
          </p:nvPr>
        </p:nvSpPr>
        <p:spPr>
          <a:xfrm>
            <a:off x="838200" y="365125"/>
            <a:ext cx="10515600" cy="942467"/>
          </a:xfrm>
        </p:spPr>
        <p:txBody>
          <a:bodyPr/>
          <a:lstStyle/>
          <a:p>
            <a:r>
              <a:rPr lang="en-US" b="1" dirty="0"/>
              <a:t>Median Voter Theorem					</a:t>
            </a:r>
          </a:p>
        </p:txBody>
      </p:sp>
      <p:pic>
        <p:nvPicPr>
          <p:cNvPr id="4" name="Content Placeholder 3" descr="Can Median Voter Theorem explain political polarization? | Notes On Liberty">
            <a:extLst>
              <a:ext uri="{FF2B5EF4-FFF2-40B4-BE49-F238E27FC236}">
                <a16:creationId xmlns:a16="http://schemas.microsoft.com/office/drawing/2014/main" id="{B7D25ADC-4739-B95D-D168-5BB733643467}"/>
              </a:ext>
            </a:extLst>
          </p:cNvPr>
          <p:cNvPicPr>
            <a:picLocks noGrp="1" noChangeAspect="1"/>
          </p:cNvPicPr>
          <p:nvPr>
            <p:ph idx="1"/>
          </p:nvPr>
        </p:nvPicPr>
        <p:blipFill>
          <a:blip r:embed="rId2"/>
          <a:stretch>
            <a:fillRect/>
          </a:stretch>
        </p:blipFill>
        <p:spPr>
          <a:xfrm>
            <a:off x="1947672" y="1389888"/>
            <a:ext cx="8449056" cy="5478558"/>
          </a:xfrm>
          <a:prstGeom prst="rect">
            <a:avLst/>
          </a:prstGeom>
        </p:spPr>
      </p:pic>
    </p:spTree>
    <p:extLst>
      <p:ext uri="{BB962C8B-B14F-4D97-AF65-F5344CB8AC3E}">
        <p14:creationId xmlns:p14="http://schemas.microsoft.com/office/powerpoint/2010/main" val="40031498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CD61F-74DB-2F8A-CFBC-D8C7BAEFFEE4}"/>
              </a:ext>
            </a:extLst>
          </p:cNvPr>
          <p:cNvSpPr>
            <a:spLocks noGrp="1"/>
          </p:cNvSpPr>
          <p:nvPr>
            <p:ph type="title"/>
          </p:nvPr>
        </p:nvSpPr>
        <p:spPr/>
        <p:txBody>
          <a:bodyPr/>
          <a:lstStyle/>
          <a:p>
            <a:r>
              <a:rPr lang="en-US" b="1" dirty="0"/>
              <a:t>Relation Between Majority Voting &amp; Median Voter Theorem </a:t>
            </a:r>
          </a:p>
        </p:txBody>
      </p:sp>
      <p:sp>
        <p:nvSpPr>
          <p:cNvPr id="3" name="Content Placeholder 2">
            <a:extLst>
              <a:ext uri="{FF2B5EF4-FFF2-40B4-BE49-F238E27FC236}">
                <a16:creationId xmlns:a16="http://schemas.microsoft.com/office/drawing/2014/main" id="{DA33545A-CE50-B36B-D9C0-5B65D058BB43}"/>
              </a:ext>
            </a:extLst>
          </p:cNvPr>
          <p:cNvSpPr>
            <a:spLocks noGrp="1"/>
          </p:cNvSpPr>
          <p:nvPr>
            <p:ph idx="1"/>
          </p:nvPr>
        </p:nvSpPr>
        <p:spPr/>
        <p:txBody>
          <a:bodyPr/>
          <a:lstStyle/>
          <a:p>
            <a:r>
              <a:rPr lang="en-US" dirty="0"/>
              <a:t>Majority voting is a procedure in which the alternative receiving more than half of the votes is chosen. </a:t>
            </a:r>
          </a:p>
          <a:p>
            <a:r>
              <a:rPr lang="en-US" dirty="0"/>
              <a:t>The median voter theorem is a theory stating that, when voters have </a:t>
            </a:r>
            <a:r>
              <a:rPr lang="en-US" b="1" dirty="0"/>
              <a:t>single-peaked preferences </a:t>
            </a:r>
            <a:r>
              <a:rPr lang="en-US" dirty="0"/>
              <a:t>over a one-dimensional issue, the alternative preferred by the median voter will be the majority-voting equilibrium. </a:t>
            </a:r>
          </a:p>
          <a:p>
            <a:r>
              <a:rPr lang="en-US" dirty="0"/>
              <a:t>Thus, majority voting is the </a:t>
            </a:r>
            <a:r>
              <a:rPr lang="en-US" b="1" dirty="0"/>
              <a:t>mechanism</a:t>
            </a:r>
            <a:r>
              <a:rPr lang="en-US" dirty="0"/>
              <a:t>, while the median voter theorem predicts the </a:t>
            </a:r>
            <a:r>
              <a:rPr lang="en-US" b="1" dirty="0"/>
              <a:t>outcome</a:t>
            </a:r>
            <a:r>
              <a:rPr lang="en-US" dirty="0"/>
              <a:t> of that mechanism under certain conditions.</a:t>
            </a:r>
          </a:p>
          <a:p>
            <a:endParaRPr lang="en-US" dirty="0"/>
          </a:p>
        </p:txBody>
      </p:sp>
    </p:spTree>
    <p:extLst>
      <p:ext uri="{BB962C8B-B14F-4D97-AF65-F5344CB8AC3E}">
        <p14:creationId xmlns:p14="http://schemas.microsoft.com/office/powerpoint/2010/main" val="12845647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AD707-97F3-F3B1-449F-F30B0F778F65}"/>
              </a:ext>
            </a:extLst>
          </p:cNvPr>
          <p:cNvSpPr>
            <a:spLocks noGrp="1"/>
          </p:cNvSpPr>
          <p:nvPr>
            <p:ph type="title"/>
          </p:nvPr>
        </p:nvSpPr>
        <p:spPr>
          <a:xfrm>
            <a:off x="838200" y="365125"/>
            <a:ext cx="10515600" cy="887603"/>
          </a:xfrm>
        </p:spPr>
        <p:txBody>
          <a:bodyPr/>
          <a:lstStyle/>
          <a:p>
            <a:r>
              <a:rPr lang="en-US" b="1" dirty="0"/>
              <a:t>Logrolling</a:t>
            </a:r>
          </a:p>
        </p:txBody>
      </p:sp>
      <p:sp>
        <p:nvSpPr>
          <p:cNvPr id="3" name="Content Placeholder 2">
            <a:extLst>
              <a:ext uri="{FF2B5EF4-FFF2-40B4-BE49-F238E27FC236}">
                <a16:creationId xmlns:a16="http://schemas.microsoft.com/office/drawing/2014/main" id="{1E573702-9066-AAFD-21D8-27EB8AF90864}"/>
              </a:ext>
            </a:extLst>
          </p:cNvPr>
          <p:cNvSpPr>
            <a:spLocks noGrp="1"/>
          </p:cNvSpPr>
          <p:nvPr>
            <p:ph idx="1"/>
          </p:nvPr>
        </p:nvSpPr>
        <p:spPr>
          <a:xfrm>
            <a:off x="838200" y="1472184"/>
            <a:ext cx="10515600" cy="5175504"/>
          </a:xfrm>
        </p:spPr>
        <p:txBody>
          <a:bodyPr/>
          <a:lstStyle/>
          <a:p>
            <a:r>
              <a:rPr lang="en-US" dirty="0"/>
              <a:t>A possible problem with simple majority voting is that it does not allow people to register how strongly they feel about the issues. Whether a particular voter just barely prefers A to B or has an enormous preference for A has no influence on the outcome. </a:t>
            </a:r>
            <a:r>
              <a:rPr lang="en-US" b="1" i="1" dirty="0"/>
              <a:t>Logrolling systems allow people to trade votes and hence register how strongly they feel about various issues</a:t>
            </a:r>
            <a:r>
              <a:rPr lang="en-US" dirty="0"/>
              <a:t>. </a:t>
            </a:r>
          </a:p>
          <a:p>
            <a:r>
              <a:rPr lang="en-US" dirty="0"/>
              <a:t>Suppose that voters Smith and Jones prefer not to have more missiles, but they don’t care all that much. Brown, on the other hand, definitely wants more missiles. With a logrolling system, Brown may be able to convince Jones to vote for more missiles if Brown promises to vote for a new road to go by Jones’s factory. </a:t>
            </a:r>
          </a:p>
        </p:txBody>
      </p:sp>
    </p:spTree>
    <p:extLst>
      <p:ext uri="{BB962C8B-B14F-4D97-AF65-F5344CB8AC3E}">
        <p14:creationId xmlns:p14="http://schemas.microsoft.com/office/powerpoint/2010/main" val="21936293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1E86A-8B28-88A1-02F9-1D05FAFE1E6F}"/>
              </a:ext>
            </a:extLst>
          </p:cNvPr>
          <p:cNvSpPr>
            <a:spLocks noGrp="1"/>
          </p:cNvSpPr>
          <p:nvPr>
            <p:ph type="title"/>
          </p:nvPr>
        </p:nvSpPr>
        <p:spPr/>
        <p:txBody>
          <a:bodyPr/>
          <a:lstStyle/>
          <a:p>
            <a:r>
              <a:rPr lang="en-US" b="1" dirty="0"/>
              <a:t>Contd</a:t>
            </a:r>
            <a:r>
              <a:rPr lang="en-US" dirty="0"/>
              <a:t>.</a:t>
            </a:r>
          </a:p>
        </p:txBody>
      </p:sp>
      <p:sp>
        <p:nvSpPr>
          <p:cNvPr id="3" name="Content Placeholder 2">
            <a:extLst>
              <a:ext uri="{FF2B5EF4-FFF2-40B4-BE49-F238E27FC236}">
                <a16:creationId xmlns:a16="http://schemas.microsoft.com/office/drawing/2014/main" id="{EC6EE17C-69A1-B699-8A29-66B380C30C11}"/>
              </a:ext>
            </a:extLst>
          </p:cNvPr>
          <p:cNvSpPr>
            <a:spLocks noGrp="1"/>
          </p:cNvSpPr>
          <p:nvPr>
            <p:ph idx="1"/>
          </p:nvPr>
        </p:nvSpPr>
        <p:spPr/>
        <p:txBody>
          <a:bodyPr/>
          <a:lstStyle/>
          <a:p>
            <a:r>
              <a:rPr lang="en-US" dirty="0"/>
              <a:t>Logrolling can lead to the passage of both </a:t>
            </a:r>
            <a:r>
              <a:rPr lang="en-US" b="1" dirty="0"/>
              <a:t>efficient and inefficient </a:t>
            </a:r>
            <a:r>
              <a:rPr lang="en-US" dirty="0"/>
              <a:t>policies that would not otherwise be enacted.</a:t>
            </a:r>
          </a:p>
          <a:p>
            <a:r>
              <a:rPr lang="en-US" dirty="0"/>
              <a:t>The process of logrolling is often defended as a means of protecting </a:t>
            </a:r>
            <a:r>
              <a:rPr lang="en-US" b="1" dirty="0"/>
              <a:t>minority interests</a:t>
            </a:r>
            <a:r>
              <a:rPr lang="en-US" dirty="0"/>
              <a:t>. There is also the possibility of overrepresentation of minority interests.</a:t>
            </a:r>
          </a:p>
          <a:p>
            <a:r>
              <a:rPr lang="en-US" dirty="0"/>
              <a:t>Logrolling among individual voters is not likely to occur when there are </a:t>
            </a:r>
            <a:r>
              <a:rPr lang="en-US" b="1" dirty="0"/>
              <a:t>large numbers of voters</a:t>
            </a:r>
            <a:r>
              <a:rPr lang="en-US" dirty="0"/>
              <a:t>. Logrolling is most likely to occur when a relatively small number of votes is required to achieve a majority.</a:t>
            </a:r>
          </a:p>
          <a:p>
            <a:endParaRPr lang="en-US" dirty="0"/>
          </a:p>
        </p:txBody>
      </p:sp>
    </p:spTree>
    <p:extLst>
      <p:ext uri="{BB962C8B-B14F-4D97-AF65-F5344CB8AC3E}">
        <p14:creationId xmlns:p14="http://schemas.microsoft.com/office/powerpoint/2010/main" val="39823966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E2CA189-52B2-4679-4E61-CC1D7E183CD2}"/>
              </a:ext>
            </a:extLst>
          </p:cNvPr>
          <p:cNvPicPr>
            <a:picLocks noGrp="1" noChangeAspect="1"/>
          </p:cNvPicPr>
          <p:nvPr>
            <p:ph idx="1"/>
          </p:nvPr>
        </p:nvPicPr>
        <p:blipFill>
          <a:blip r:embed="rId2"/>
          <a:stretch>
            <a:fillRect/>
          </a:stretch>
        </p:blipFill>
        <p:spPr>
          <a:xfrm>
            <a:off x="1452641" y="128016"/>
            <a:ext cx="9286717" cy="6729984"/>
          </a:xfrm>
          <a:prstGeom prst="rect">
            <a:avLst/>
          </a:prstGeom>
        </p:spPr>
      </p:pic>
    </p:spTree>
    <p:extLst>
      <p:ext uri="{BB962C8B-B14F-4D97-AF65-F5344CB8AC3E}">
        <p14:creationId xmlns:p14="http://schemas.microsoft.com/office/powerpoint/2010/main" val="4948676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357C7-04E8-211E-3358-94FFC2E4557C}"/>
              </a:ext>
            </a:extLst>
          </p:cNvPr>
          <p:cNvSpPr>
            <a:spLocks noGrp="1"/>
          </p:cNvSpPr>
          <p:nvPr>
            <p:ph type="title"/>
          </p:nvPr>
        </p:nvSpPr>
        <p:spPr>
          <a:xfrm>
            <a:off x="838200" y="365125"/>
            <a:ext cx="10515600" cy="905891"/>
          </a:xfrm>
        </p:spPr>
        <p:txBody>
          <a:bodyPr/>
          <a:lstStyle/>
          <a:p>
            <a:r>
              <a:rPr lang="en-US" b="1" dirty="0"/>
              <a:t>Arrow’s Impossibility Theorem			R</a:t>
            </a:r>
          </a:p>
        </p:txBody>
      </p:sp>
      <p:sp>
        <p:nvSpPr>
          <p:cNvPr id="3" name="Content Placeholder 2">
            <a:extLst>
              <a:ext uri="{FF2B5EF4-FFF2-40B4-BE49-F238E27FC236}">
                <a16:creationId xmlns:a16="http://schemas.microsoft.com/office/drawing/2014/main" id="{53CB2490-2DF9-E598-8381-9AEBEC4B7460}"/>
              </a:ext>
            </a:extLst>
          </p:cNvPr>
          <p:cNvSpPr>
            <a:spLocks noGrp="1"/>
          </p:cNvSpPr>
          <p:nvPr>
            <p:ph idx="1"/>
          </p:nvPr>
        </p:nvSpPr>
        <p:spPr>
          <a:xfrm>
            <a:off x="838200" y="1563624"/>
            <a:ext cx="10515600" cy="4613339"/>
          </a:xfrm>
        </p:spPr>
        <p:txBody>
          <a:bodyPr/>
          <a:lstStyle/>
          <a:p>
            <a:r>
              <a:rPr lang="en-US" dirty="0"/>
              <a:t>We have shown that neither simple majority voting nor logrolling has entirely desirable properties. Many other voting schemes have also been considered, and they, too, are flawed. </a:t>
            </a:r>
          </a:p>
          <a:p>
            <a:r>
              <a:rPr lang="en-US" dirty="0"/>
              <a:t>An important question is whether any ethically acceptable method for translating individual preferences into collective preferences is free of difficulties. It depends on what you mean by “ethically acceptable.” Nobel laureate Kenneth Arrow [1951] proposed that in a democratic society, a collective decision-making rule should satisfy the following criteria: </a:t>
            </a:r>
          </a:p>
        </p:txBody>
      </p:sp>
    </p:spTree>
    <p:extLst>
      <p:ext uri="{BB962C8B-B14F-4D97-AF65-F5344CB8AC3E}">
        <p14:creationId xmlns:p14="http://schemas.microsoft.com/office/powerpoint/2010/main" val="18577022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74899C-8B20-2315-CFB2-95D958F56E82}"/>
              </a:ext>
            </a:extLst>
          </p:cNvPr>
          <p:cNvSpPr>
            <a:spLocks noGrp="1"/>
          </p:cNvSpPr>
          <p:nvPr>
            <p:ph idx="1"/>
          </p:nvPr>
        </p:nvSpPr>
        <p:spPr>
          <a:xfrm>
            <a:off x="385011" y="457200"/>
            <a:ext cx="11534273" cy="6400800"/>
          </a:xfrm>
        </p:spPr>
        <p:txBody>
          <a:bodyPr>
            <a:normAutofit lnSpcReduction="10000"/>
          </a:bodyPr>
          <a:lstStyle/>
          <a:p>
            <a:r>
              <a:rPr lang="en-US" dirty="0"/>
              <a:t>1. It can produce a decision whatever the configuration of voters’ preferences. Thus, for example, the procedure must not fall apart if some people have multipeaked preferences. </a:t>
            </a:r>
          </a:p>
          <a:p>
            <a:r>
              <a:rPr lang="en-US" dirty="0"/>
              <a:t>2. It must be able to rank all possible outcomes. </a:t>
            </a:r>
          </a:p>
          <a:p>
            <a:r>
              <a:rPr lang="en-US" dirty="0"/>
              <a:t>3. It must be responsive to individuals’ preferences. Specifically, if every individual prefers A to B, then society’s ranking must prefer A to B. </a:t>
            </a:r>
          </a:p>
          <a:p>
            <a:r>
              <a:rPr lang="en-US" dirty="0"/>
              <a:t>4. It must be consistent in the sense that if A is preferred to B and B is preferred to C, then A is preferred to C.  </a:t>
            </a:r>
          </a:p>
          <a:p>
            <a:r>
              <a:rPr lang="en-US" dirty="0"/>
              <a:t>5. Society’s ranking of A and B must depend only on individuals’ rankings of A and B. Thus, the collective ranking of manned space travel and foreign aid does not depend on how individuals rank either of them relative to research on a cure for AIDS. This assumption is sometimes called the </a:t>
            </a:r>
            <a:r>
              <a:rPr lang="en-US" b="1" dirty="0"/>
              <a:t>independence of irrelevant alternatives. </a:t>
            </a:r>
          </a:p>
          <a:p>
            <a:r>
              <a:rPr lang="en-US" dirty="0"/>
              <a:t>6. Dictatorship is ruled out. Social preferences must not reflect the preferences of only a single individual.</a:t>
            </a:r>
          </a:p>
        </p:txBody>
      </p:sp>
    </p:spTree>
    <p:extLst>
      <p:ext uri="{BB962C8B-B14F-4D97-AF65-F5344CB8AC3E}">
        <p14:creationId xmlns:p14="http://schemas.microsoft.com/office/powerpoint/2010/main" val="1506594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07A29B-6655-D25B-EF26-E1DC6421F62F}"/>
              </a:ext>
            </a:extLst>
          </p:cNvPr>
          <p:cNvSpPr>
            <a:spLocks noGrp="1"/>
          </p:cNvSpPr>
          <p:nvPr>
            <p:ph idx="1"/>
          </p:nvPr>
        </p:nvSpPr>
        <p:spPr>
          <a:xfrm>
            <a:off x="838200" y="694944"/>
            <a:ext cx="10515600" cy="5482019"/>
          </a:xfrm>
        </p:spPr>
        <p:txBody>
          <a:bodyPr>
            <a:normAutofit lnSpcReduction="10000"/>
          </a:bodyPr>
          <a:lstStyle/>
          <a:p>
            <a:r>
              <a:rPr lang="en-US" dirty="0"/>
              <a:t>Taken together, these criteria seem quite reasonable. Basically, they say that society’s choice mechanism should be logical and respect individuals’ preferences. Unfortunately, the stunning conclusion of Arrow’s analysis is that </a:t>
            </a:r>
            <a:r>
              <a:rPr lang="en-US" b="1" i="1" dirty="0"/>
              <a:t>in general it is impossible to find a rule that satisfies all these criteria. A democratic society cannot be expected to make consistent decisions.</a:t>
            </a:r>
          </a:p>
          <a:p>
            <a:r>
              <a:rPr lang="en-US" dirty="0"/>
              <a:t>This result, called Arrow’s Impossibility Theorem, thus casts doubt on the very ability of democracies to function. Naturally, the theorem has generated debate, much of which has focused on whether other sets of criteria might allow formation of a social decision-making rule. It turns out that if any of the six criteria is dropped, a decision-making rule that satisfies the other five can be constructed. But whether or not it is permissible to drop any of the criteria depends on one’s views of their ethical validity. </a:t>
            </a:r>
          </a:p>
        </p:txBody>
      </p:sp>
    </p:spTree>
    <p:extLst>
      <p:ext uri="{BB962C8B-B14F-4D97-AF65-F5344CB8AC3E}">
        <p14:creationId xmlns:p14="http://schemas.microsoft.com/office/powerpoint/2010/main" val="206354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73FE1-B0FB-3F82-F41A-BDBFBCC0C076}"/>
              </a:ext>
            </a:extLst>
          </p:cNvPr>
          <p:cNvSpPr>
            <a:spLocks noGrp="1"/>
          </p:cNvSpPr>
          <p:nvPr>
            <p:ph type="title"/>
          </p:nvPr>
        </p:nvSpPr>
        <p:spPr/>
        <p:txBody>
          <a:bodyPr/>
          <a:lstStyle/>
          <a:p>
            <a:r>
              <a:rPr lang="en-US" b="1" dirty="0"/>
              <a:t>Participants in the Political Process		B</a:t>
            </a:r>
          </a:p>
        </p:txBody>
      </p:sp>
      <p:sp>
        <p:nvSpPr>
          <p:cNvPr id="3" name="Content Placeholder 2">
            <a:extLst>
              <a:ext uri="{FF2B5EF4-FFF2-40B4-BE49-F238E27FC236}">
                <a16:creationId xmlns:a16="http://schemas.microsoft.com/office/drawing/2014/main" id="{4A15437D-F540-C83D-D4FB-F7E2E16036DD}"/>
              </a:ext>
            </a:extLst>
          </p:cNvPr>
          <p:cNvSpPr>
            <a:spLocks noGrp="1"/>
          </p:cNvSpPr>
          <p:nvPr>
            <p:ph idx="1"/>
          </p:nvPr>
        </p:nvSpPr>
        <p:spPr/>
        <p:txBody>
          <a:bodyPr/>
          <a:lstStyle/>
          <a:p>
            <a:r>
              <a:rPr lang="en-US" dirty="0"/>
              <a:t>Voters</a:t>
            </a:r>
          </a:p>
          <a:p>
            <a:r>
              <a:rPr lang="en-US" dirty="0"/>
              <a:t>Politicians</a:t>
            </a:r>
          </a:p>
          <a:p>
            <a:r>
              <a:rPr lang="en-US" dirty="0"/>
              <a:t>Bureaus and bureaucrats</a:t>
            </a:r>
          </a:p>
          <a:p>
            <a:r>
              <a:rPr lang="en-US" dirty="0"/>
              <a:t>Pressure groups and lobbies</a:t>
            </a:r>
          </a:p>
          <a:p>
            <a:endParaRPr lang="en-US" dirty="0"/>
          </a:p>
        </p:txBody>
      </p:sp>
    </p:spTree>
    <p:extLst>
      <p:ext uri="{BB962C8B-B14F-4D97-AF65-F5344CB8AC3E}">
        <p14:creationId xmlns:p14="http://schemas.microsoft.com/office/powerpoint/2010/main" val="2095731785"/>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4763</TotalTime>
  <Words>2416</Words>
  <Application>Microsoft Office PowerPoint</Application>
  <PresentationFormat>Widescreen</PresentationFormat>
  <Paragraphs>178</Paragraphs>
  <Slides>24</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Calibri Light</vt:lpstr>
      <vt:lpstr>1_Office Theme</vt:lpstr>
      <vt:lpstr>Public Finance Lecture-5 Public Choice Theory</vt:lpstr>
      <vt:lpstr>Public Choice       B</vt:lpstr>
      <vt:lpstr>Voting and Resource Allocation</vt:lpstr>
      <vt:lpstr>Unanimity Rules       R</vt:lpstr>
      <vt:lpstr>Direct Majority Voting     R</vt:lpstr>
      <vt:lpstr>Contd.</vt:lpstr>
      <vt:lpstr>Voting Paradox</vt:lpstr>
      <vt:lpstr>The Cyclical Majority Phenomenon</vt:lpstr>
      <vt:lpstr>Consider a society with three people (John, Eleanor, and Abigail) who use majority rule to decide how much money to spend on a public park. There are three options for spending on a public park: H (high), M (medium), and L (low). These individuals rank the three options in the following way:</vt:lpstr>
      <vt:lpstr>John: M &gt; L &gt; H  Eleanor: L &gt; M &gt; H  Abigail: H &gt; M &gt; L </vt:lpstr>
      <vt:lpstr>PowerPoint Presentation</vt:lpstr>
      <vt:lpstr>Eleanor's New Preferences: L &gt; H &gt; M</vt:lpstr>
      <vt:lpstr>Different agendas produce different winners</vt:lpstr>
      <vt:lpstr>Implications of Majority Voting   B</vt:lpstr>
      <vt:lpstr>Majority Voting Does Not Ensure Efficiency</vt:lpstr>
      <vt:lpstr>Median Voter Theorem     </vt:lpstr>
      <vt:lpstr>Relation Between Majority Voting &amp; Median Voter Theorem </vt:lpstr>
      <vt:lpstr>Logrolling</vt:lpstr>
      <vt:lpstr>Contd.</vt:lpstr>
      <vt:lpstr>PowerPoint Presentation</vt:lpstr>
      <vt:lpstr>Arrow’s Impossibility Theorem   R</vt:lpstr>
      <vt:lpstr>PowerPoint Presentation</vt:lpstr>
      <vt:lpstr>PowerPoint Presentation</vt:lpstr>
      <vt:lpstr>Participants in the Political Process  B</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Tahmina Akter</dc:creator>
  <cp:lastModifiedBy>Tahmina Akter</cp:lastModifiedBy>
  <cp:revision>18</cp:revision>
  <dcterms:created xsi:type="dcterms:W3CDTF">2026-06-10T19:11:43Z</dcterms:created>
  <dcterms:modified xsi:type="dcterms:W3CDTF">2026-10-10T15:48:52Z</dcterms:modified>
</cp:coreProperties>
</file>